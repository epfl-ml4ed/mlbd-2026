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4"/>
  </p:sldMasterIdLst>
  <p:notesMasterIdLst>
    <p:notesMasterId r:id="rId72"/>
  </p:notesMasterIdLst>
  <p:handoutMasterIdLst>
    <p:handoutMasterId r:id="rId73"/>
  </p:handoutMasterIdLst>
  <p:sldIdLst>
    <p:sldId id="316" r:id="rId5"/>
    <p:sldId id="1113" r:id="rId6"/>
    <p:sldId id="1153" r:id="rId7"/>
    <p:sldId id="1196" r:id="rId8"/>
    <p:sldId id="1197" r:id="rId9"/>
    <p:sldId id="1198" r:id="rId10"/>
    <p:sldId id="1192" r:id="rId11"/>
    <p:sldId id="1099" r:id="rId12"/>
    <p:sldId id="1101" r:id="rId13"/>
    <p:sldId id="1102" r:id="rId14"/>
    <p:sldId id="1193" r:id="rId15"/>
    <p:sldId id="1200" r:id="rId16"/>
    <p:sldId id="1103" r:id="rId17"/>
    <p:sldId id="1194" r:id="rId18"/>
    <p:sldId id="1201" r:id="rId19"/>
    <p:sldId id="1120" r:id="rId20"/>
    <p:sldId id="1121" r:id="rId21"/>
    <p:sldId id="1119" r:id="rId22"/>
    <p:sldId id="1179" r:id="rId23"/>
    <p:sldId id="1141" r:id="rId24"/>
    <p:sldId id="1146" r:id="rId25"/>
    <p:sldId id="1147" r:id="rId26"/>
    <p:sldId id="1143" r:id="rId27"/>
    <p:sldId id="1144" r:id="rId28"/>
    <p:sldId id="1142" r:id="rId29"/>
    <p:sldId id="1124" r:id="rId30"/>
    <p:sldId id="1125" r:id="rId31"/>
    <p:sldId id="1126" r:id="rId32"/>
    <p:sldId id="1127" r:id="rId33"/>
    <p:sldId id="1129" r:id="rId34"/>
    <p:sldId id="1128" r:id="rId35"/>
    <p:sldId id="1130" r:id="rId36"/>
    <p:sldId id="1131" r:id="rId37"/>
    <p:sldId id="1132" r:id="rId38"/>
    <p:sldId id="1133" r:id="rId39"/>
    <p:sldId id="1134" r:id="rId40"/>
    <p:sldId id="1139" r:id="rId41"/>
    <p:sldId id="1135" r:id="rId42"/>
    <p:sldId id="1136" r:id="rId43"/>
    <p:sldId id="1137" r:id="rId44"/>
    <p:sldId id="1138" r:id="rId45"/>
    <p:sldId id="1189" r:id="rId46"/>
    <p:sldId id="1180" r:id="rId47"/>
    <p:sldId id="1148" r:id="rId48"/>
    <p:sldId id="1149" r:id="rId49"/>
    <p:sldId id="1150" r:id="rId50"/>
    <p:sldId id="1151" r:id="rId51"/>
    <p:sldId id="1152" r:id="rId52"/>
    <p:sldId id="1199" r:id="rId53"/>
    <p:sldId id="1202" r:id="rId54"/>
    <p:sldId id="1105" r:id="rId55"/>
    <p:sldId id="1155" r:id="rId56"/>
    <p:sldId id="1203" r:id="rId57"/>
    <p:sldId id="1106" r:id="rId58"/>
    <p:sldId id="1156" r:id="rId59"/>
    <p:sldId id="1157" r:id="rId60"/>
    <p:sldId id="1158" r:id="rId61"/>
    <p:sldId id="1159" r:id="rId62"/>
    <p:sldId id="1160" r:id="rId63"/>
    <p:sldId id="1161" r:id="rId64"/>
    <p:sldId id="1163" r:id="rId65"/>
    <p:sldId id="1162" r:id="rId66"/>
    <p:sldId id="1165" r:id="rId67"/>
    <p:sldId id="1164" r:id="rId68"/>
    <p:sldId id="1166" r:id="rId69"/>
    <p:sldId id="1178" r:id="rId70"/>
    <p:sldId id="1204" r:id="rId71"/>
  </p:sldIdLst>
  <p:sldSz cx="9144000" cy="5143500" type="screen16x9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ETH Light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66">
          <p15:clr>
            <a:srgbClr val="A4A3A4"/>
          </p15:clr>
        </p15:guide>
        <p15:guide id="2" pos="2874">
          <p15:clr>
            <a:srgbClr val="A4A3A4"/>
          </p15:clr>
        </p15:guide>
        <p15:guide id="3" orient="horz" pos="1027">
          <p15:clr>
            <a:srgbClr val="A4A3A4"/>
          </p15:clr>
        </p15:guide>
        <p15:guide id="4" orient="horz" pos="27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OLA MEJIA DOMENZAIN" initials="PMD" lastIdx="1" clrIdx="0">
    <p:extLst>
      <p:ext uri="{19B8F6BF-5375-455C-9EA6-DF929625EA0E}">
        <p15:presenceInfo xmlns:p15="http://schemas.microsoft.com/office/powerpoint/2012/main" userId="PAOLA MEJIA DOMENZAIN" providerId="None"/>
      </p:ext>
    </p:extLst>
  </p:cmAuthor>
  <p:cmAuthor id="2" name="Paola Mejia" initials="" lastIdx="1" clrIdx="1"/>
  <p:cmAuthor id="3" name="Tanja Käser" initials="TK" lastIdx="2" clrIdx="2">
    <p:extLst>
      <p:ext uri="{19B8F6BF-5375-455C-9EA6-DF929625EA0E}">
        <p15:presenceInfo xmlns:p15="http://schemas.microsoft.com/office/powerpoint/2012/main" userId="Tanja Kä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F7F7F"/>
    <a:srgbClr val="E8E8F3"/>
    <a:srgbClr val="005EA4"/>
    <a:srgbClr val="AFDDFF"/>
    <a:srgbClr val="77C8F1"/>
    <a:srgbClr val="D9EFFF"/>
    <a:srgbClr val="FFE8A1"/>
    <a:srgbClr val="F5DA9D"/>
    <a:srgbClr val="B8F58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54" autoAdjust="0"/>
    <p:restoredTop sz="71739" autoAdjust="0"/>
  </p:normalViewPr>
  <p:slideViewPr>
    <p:cSldViewPr snapToGrid="0">
      <p:cViewPr varScale="1">
        <p:scale>
          <a:sx n="71" d="100"/>
          <a:sy n="71" d="100"/>
        </p:scale>
        <p:origin x="2295" y="30"/>
      </p:cViewPr>
      <p:guideLst>
        <p:guide orient="horz" pos="2766"/>
        <p:guide pos="2874"/>
        <p:guide orient="horz" pos="1027"/>
        <p:guide orient="horz" pos="27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664" y="5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t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t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endParaRPr lang="en-US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b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b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fld id="{E4E2B67C-51EB-4427-AC6D-13AD2A9DE22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56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t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endParaRPr lang="en-GB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t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endParaRPr lang="en-GB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59300"/>
            <a:ext cx="536257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b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endParaRPr lang="en-GB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149" tIns="47575" rIns="95149" bIns="47575" numCol="1" anchor="b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fld id="{051F0B57-B63F-4711-A482-2ACA114C123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163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TH Light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TH Light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TH Light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TH Light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ETH Light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78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550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c)</a:t>
            </a:r>
          </a:p>
          <a:p>
            <a:r>
              <a:rPr lang="en-US" dirty="0"/>
              <a:t>-&gt; we could in theory do tanh, but then would need another cost function (or normalize to [0-1] range as a basis for binary </a:t>
            </a:r>
            <a:r>
              <a:rPr lang="en-US" dirty="0" err="1"/>
              <a:t>crossentropy</a:t>
            </a:r>
            <a:r>
              <a:rPr lang="en-US" dirty="0"/>
              <a:t>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42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data is in the student notebook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469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Discuss with your neighbor: how many clusters do we get? What is the interpretation of these clusters? Are we able to retrieve the original </a:t>
            </a:r>
            <a:r>
              <a:rPr lang="en-US" dirty="0" err="1"/>
              <a:t>procastrination</a:t>
            </a:r>
            <a:r>
              <a:rPr lang="en-US" dirty="0"/>
              <a:t> patterns? If not, why not?</a:t>
            </a:r>
            <a:br>
              <a:rPr lang="en-US" dirty="0"/>
            </a:br>
            <a:r>
              <a:rPr lang="en-US" dirty="0"/>
              <a:t>-&gt; Share your answers through Python Anywhere!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47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example on top of slide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297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Think: what is the optimal number of clusters? How do the results differ from the aggregated feature results?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-&gt; Share your answers on the </a:t>
            </a:r>
            <a:r>
              <a:rPr lang="en-US" dirty="0" err="1"/>
              <a:t>SpeakUp</a:t>
            </a:r>
            <a:r>
              <a:rPr lang="en-US" dirty="0"/>
              <a:t> Chat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964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POLL: Who has heard about dynamic time warping?</a:t>
            </a:r>
          </a:p>
          <a:p>
            <a:pPr marL="171450" indent="-171450">
              <a:buFontTx/>
              <a:buChar char="-"/>
            </a:pPr>
            <a:r>
              <a:rPr lang="en-US" dirty="0"/>
              <a:t>A point x of a time series can be matched to more than one point y of the other time series</a:t>
            </a:r>
          </a:p>
          <a:p>
            <a:pPr marL="171450" indent="-171450">
              <a:buFontTx/>
              <a:buChar char="-"/>
            </a:pPr>
            <a:r>
              <a:rPr lang="en-US" dirty="0"/>
              <a:t>Optimal alignment = minimizing the distance between the two time series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55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digit spoken – we want to align them.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57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d: can for example be the Euclidean distance d(</a:t>
            </a:r>
            <a:r>
              <a:rPr lang="en-US" dirty="0" err="1"/>
              <a:t>p,q</a:t>
            </a:r>
            <a:r>
              <a:rPr lang="en-US" dirty="0"/>
              <a:t>) = sqrt( (p1-q1)^2 + (p2-q2)^2)</a:t>
            </a:r>
          </a:p>
          <a:p>
            <a:r>
              <a:rPr lang="en-US" dirty="0"/>
              <a:t>k: given alignment (we have as much pairs as the length of the longer sequences), in our example, k would be 6.</a:t>
            </a:r>
          </a:p>
          <a:p>
            <a:endParaRPr lang="en-US" dirty="0"/>
          </a:p>
          <a:p>
            <a:r>
              <a:rPr lang="en-US" dirty="0"/>
              <a:t>-&gt; Write on slide: a = [1,2,3,5]</a:t>
            </a:r>
          </a:p>
          <a:p>
            <a:r>
              <a:rPr lang="en-US" dirty="0"/>
              <a:t>b=[2,2,2,4,4,3]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014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01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alignment between sequences on slide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079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Write alignment between sequences on slide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352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someone have a better suggestion? Does this problem remind you of something?</a:t>
            </a:r>
          </a:p>
          <a:p>
            <a:r>
              <a:rPr lang="en-US" dirty="0"/>
              <a:t>-&gt; WRITE in </a:t>
            </a:r>
            <a:r>
              <a:rPr lang="en-US" dirty="0" err="1"/>
              <a:t>SpeakUp</a:t>
            </a:r>
            <a:r>
              <a:rPr lang="en-US" dirty="0"/>
              <a:t> CHAT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2315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142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do L1 distance here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170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cannot go back in time -&gt; sum of pair-wise distances in first column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765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holds along the first row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28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holds along the first row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2073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Write on slide</a:t>
                </a:r>
                <a:r>
                  <a:rPr lang="en-US" sz="800" kern="1200" baseline="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(2,2) = 0 + 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min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(2,1),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(1,1),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8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(1,2))</m:t>
                    </m:r>
                  </m:oMath>
                </a14:m>
                <a:endParaRPr lang="en-CH" sz="800" kern="1200" dirty="0" err="1">
                  <a:solidFill>
                    <a:schemeClr val="tx1"/>
                  </a:solidFill>
                  <a:latin typeface="ETH Light" pitchFamily="2" charset="0"/>
                  <a:ea typeface="+mn-ea"/>
                  <a:cs typeface="+mn-cs"/>
                </a:endParaRPr>
              </a:p>
              <a:p>
                <a:br>
                  <a:rPr lang="en-US" dirty="0"/>
                </a:br>
                <a:endParaRPr lang="en-CH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Write on slide</a:t>
                </a:r>
                <a:r>
                  <a:rPr lang="en-US" sz="800" kern="1200" baseline="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:r>
                  <a:rPr lang="en-US" sz="8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"D(2,2) = 0 + min(D(2,1),D(1,1),D(1,2))</a:t>
                </a:r>
                <a:r>
                  <a:rPr lang="en-CH" sz="800" i="0" kern="1200" dirty="0">
                    <a:solidFill>
                      <a:schemeClr val="tx1"/>
                    </a:solidFill>
                    <a:latin typeface="ETH Light" pitchFamily="2" charset="0"/>
                    <a:ea typeface="+mn-ea"/>
                    <a:cs typeface="+mn-cs"/>
                  </a:rPr>
                  <a:t>"</a:t>
                </a:r>
                <a:endParaRPr lang="en-CH" sz="800" kern="1200" dirty="0" err="1">
                  <a:solidFill>
                    <a:schemeClr val="tx1"/>
                  </a:solidFill>
                  <a:latin typeface="ETH Light" pitchFamily="2" charset="0"/>
                  <a:ea typeface="+mn-ea"/>
                  <a:cs typeface="+mn-cs"/>
                </a:endParaRPr>
              </a:p>
              <a:p>
                <a:br>
                  <a:rPr lang="en-US" dirty="0"/>
                </a:br>
                <a:endParaRPr lang="en-CH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5613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Write on slide</a:t>
                </a:r>
                <a:r>
                  <a:rPr lang="en-US" sz="1200" kern="1200" baseline="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(2,3) = 1 + 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min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(2,2),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(1,2),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(1,3))</m:t>
                    </m:r>
                  </m:oMath>
                </a14:m>
                <a:endParaRPr lang="en-CH" sz="1200" kern="1200" dirty="0" err="1">
                  <a:solidFill>
                    <a:schemeClr val="tx1"/>
                  </a:solidFill>
                  <a:latin typeface="ETH Light" pitchFamily="2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Write on slide</a:t>
                </a:r>
                <a:r>
                  <a:rPr lang="en-US" sz="1200" kern="1200" baseline="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"D(2,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3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 = 0 + min(D(2,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2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),D(1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2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),D(1,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3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))</a:t>
                </a:r>
                <a:r>
                  <a:rPr lang="en-CH" sz="1200" i="0" kern="1200" dirty="0">
                    <a:solidFill>
                      <a:schemeClr val="tx1"/>
                    </a:solidFill>
                    <a:latin typeface="ETH Light" pitchFamily="2" charset="0"/>
                    <a:ea typeface="+mn-ea"/>
                    <a:cs typeface="+mn-cs"/>
                  </a:rPr>
                  <a:t>"</a:t>
                </a:r>
                <a:endParaRPr lang="en-CH" sz="1200" kern="1200" dirty="0" err="1">
                  <a:solidFill>
                    <a:schemeClr val="tx1"/>
                  </a:solidFill>
                  <a:latin typeface="ETH Light" pitchFamily="2" charset="0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8787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H" sz="1200" kern="1200" dirty="0" err="1">
              <a:solidFill>
                <a:schemeClr val="tx1"/>
              </a:solidFill>
              <a:latin typeface="ETH Light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2223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Write on slide</a:t>
                </a:r>
                <a:r>
                  <a:rPr lang="en-US" sz="1200" kern="1200" baseline="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(2,4) = 3 + 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min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(2,3),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(1,3),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D</m:t>
                    </m:r>
                    <m:r>
                      <m:rPr>
                        <m:nor/>
                      </m:rPr>
                      <a:rPr lang="en-US" sz="1200" kern="1200" dirty="0" smtClean="0">
                        <a:solidFill>
                          <a:schemeClr val="tx1"/>
                        </a:solidFill>
                        <a:latin typeface="ETH Light" pitchFamily="2" charset="0"/>
                        <a:ea typeface="+mn-ea"/>
                        <a:cs typeface="+mn-cs"/>
                      </a:rPr>
                      <m:t>(1,4))</m:t>
                    </m:r>
                  </m:oMath>
                </a14:m>
                <a:endParaRPr lang="en-CH" sz="1200" kern="1200" dirty="0" err="1">
                  <a:solidFill>
                    <a:schemeClr val="tx1"/>
                  </a:solidFill>
                  <a:latin typeface="ETH Light" pitchFamily="2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a typeface="+mn-ea"/>
                    <a:cs typeface="+mn-cs"/>
                  </a:rPr>
                  <a:t>Write on slide</a:t>
                </a:r>
                <a:r>
                  <a:rPr lang="en-US" sz="1200" kern="1200" baseline="0" dirty="0">
                    <a:solidFill>
                      <a:schemeClr val="tx1"/>
                    </a:solidFill>
                    <a:ea typeface="+mn-ea"/>
                    <a:cs typeface="+mn-cs"/>
                  </a:rPr>
                  <a:t>: 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"D(2,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4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 = 0 + min(D(2,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3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),D(1,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3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),D(1,</a:t>
                </a:r>
                <a:r>
                  <a:rPr lang="en-US" sz="12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4</a:t>
                </a:r>
                <a:r>
                  <a:rPr lang="en-US" sz="120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))</a:t>
                </a:r>
                <a:r>
                  <a:rPr lang="en-CH" sz="1200" i="0" kern="1200" dirty="0">
                    <a:solidFill>
                      <a:schemeClr val="tx1"/>
                    </a:solidFill>
                    <a:latin typeface="ETH Light" pitchFamily="2" charset="0"/>
                    <a:ea typeface="+mn-ea"/>
                    <a:cs typeface="+mn-cs"/>
                  </a:rPr>
                  <a:t>"</a:t>
                </a:r>
                <a:endParaRPr lang="en-CH" sz="1200" kern="1200" dirty="0" err="1">
                  <a:solidFill>
                    <a:schemeClr val="tx1"/>
                  </a:solidFill>
                  <a:latin typeface="ETH Light" pitchFamily="2" charset="0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241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4793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distance path to arrive at D(6,4)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9206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distance path to arrive at D(6,4)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2624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distance path to arrive at D(6,4)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0877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distance path to arrive at D(6,4)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5605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distance path to arrive at D(6,4)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0712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Minimum distance path to arrive at D(6,4)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356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would happen is that the second entry of a would be assigned to all entries (which are 2) of b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743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would happen is that the second entry of a would be assigned to all entries (which are 2) of b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0362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= 1: j=1,2,3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459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 = 2: j=1,…,4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504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 = 3: j=1,…,5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426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 = 4: j=2,…,6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1976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w=0 -&gt; Euclidean distance</a:t>
            </a:r>
          </a:p>
          <a:p>
            <a:r>
              <a:rPr lang="en-US" dirty="0"/>
              <a:t>w=27: just detects peaks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3678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623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import</a:t>
            </a:r>
            <a:r>
              <a:rPr lang="fr-FR" dirty="0"/>
              <a:t>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scipy.linalg</a:t>
            </a:r>
            <a:r>
              <a:rPr lang="fr-FR" dirty="0"/>
              <a:t>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as</a:t>
            </a:r>
            <a:r>
              <a:rPr lang="fr-FR" dirty="0"/>
              <a:t>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la</a:t>
            </a:r>
            <a:endParaRPr lang="fr-FR" dirty="0">
              <a:effectLst/>
            </a:endParaRPr>
          </a:p>
          <a:p>
            <a:r>
              <a:rPr lang="fr-FR" dirty="0" err="1">
                <a:effectLst/>
              </a:rPr>
              <a:t>lam</a:t>
            </a:r>
            <a:r>
              <a:rPr lang="fr-FR" dirty="0">
                <a:effectLst/>
              </a:rPr>
              <a:t>,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vec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la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eig</a:t>
            </a:r>
            <a:r>
              <a:rPr lang="fr-FR" dirty="0">
                <a:effectLst/>
              </a:rPr>
              <a:t>(T,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left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True</a:t>
            </a:r>
            <a:r>
              <a:rPr lang="fr-FR" dirty="0">
                <a:effectLst/>
              </a:rPr>
              <a:t>,</a:t>
            </a:r>
            <a:r>
              <a:rPr lang="fr-FR" dirty="0"/>
              <a:t> </a:t>
            </a:r>
            <a:r>
              <a:rPr lang="fr-FR" dirty="0">
                <a:effectLst/>
              </a:rPr>
              <a:t>right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=False</a:t>
            </a:r>
            <a:r>
              <a:rPr lang="fr-FR" dirty="0">
                <a:effectLst/>
              </a:rPr>
              <a:t>)</a:t>
            </a:r>
            <a:r>
              <a:rPr lang="fr-FR" dirty="0"/>
              <a:t> </a:t>
            </a:r>
          </a:p>
          <a:p>
            <a:r>
              <a:rPr lang="fr-FR" dirty="0" err="1">
                <a:effectLst/>
              </a:rPr>
              <a:t>idx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np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argmin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np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abs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lam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-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1</a:t>
            </a:r>
            <a:r>
              <a:rPr lang="fr-FR" dirty="0">
                <a:effectLst/>
              </a:rPr>
              <a:t>))</a:t>
            </a:r>
            <a:r>
              <a:rPr lang="fr-FR" dirty="0"/>
              <a:t> </a:t>
            </a:r>
          </a:p>
          <a:p>
            <a:r>
              <a:rPr lang="fr-FR" dirty="0">
                <a:effectLst/>
              </a:rPr>
              <a:t>w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np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real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vec</a:t>
            </a:r>
            <a:r>
              <a:rPr lang="fr-FR" dirty="0">
                <a:effectLst/>
              </a:rPr>
              <a:t>[:,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idx</a:t>
            </a:r>
            <a:r>
              <a:rPr lang="fr-FR" dirty="0">
                <a:effectLst/>
              </a:rPr>
              <a:t>])</a:t>
            </a:r>
            <a:r>
              <a:rPr lang="fr-FR" dirty="0"/>
              <a:t> </a:t>
            </a:r>
          </a:p>
          <a:p>
            <a:r>
              <a:rPr lang="fr-FR" dirty="0">
                <a:effectLst/>
              </a:rPr>
              <a:t>w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/</a:t>
            </a:r>
            <a:r>
              <a:rPr lang="fr-FR" dirty="0" err="1">
                <a:effectLst/>
              </a:rPr>
              <a:t>w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sum</a:t>
            </a:r>
            <a:r>
              <a:rPr lang="fr-FR" dirty="0">
                <a:effectLst/>
              </a:rPr>
              <a:t>()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9748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import</a:t>
            </a:r>
            <a:r>
              <a:rPr lang="fr-FR" dirty="0"/>
              <a:t>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scipy.linalg</a:t>
            </a:r>
            <a:r>
              <a:rPr lang="fr-FR" dirty="0"/>
              <a:t>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as</a:t>
            </a:r>
            <a:r>
              <a:rPr lang="fr-FR" dirty="0"/>
              <a:t> 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la</a:t>
            </a:r>
            <a:endParaRPr lang="fr-FR" dirty="0">
              <a:effectLst/>
            </a:endParaRPr>
          </a:p>
          <a:p>
            <a:r>
              <a:rPr lang="fr-FR" dirty="0" err="1">
                <a:effectLst/>
              </a:rPr>
              <a:t>lam</a:t>
            </a:r>
            <a:r>
              <a:rPr lang="fr-FR" dirty="0">
                <a:effectLst/>
              </a:rPr>
              <a:t>,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vec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la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eig</a:t>
            </a:r>
            <a:r>
              <a:rPr lang="fr-FR" dirty="0">
                <a:effectLst/>
              </a:rPr>
              <a:t>(T,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left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True</a:t>
            </a:r>
            <a:r>
              <a:rPr lang="fr-FR" dirty="0">
                <a:effectLst/>
              </a:rPr>
              <a:t>,</a:t>
            </a:r>
            <a:r>
              <a:rPr lang="fr-FR" dirty="0"/>
              <a:t> </a:t>
            </a:r>
            <a:r>
              <a:rPr lang="fr-FR" dirty="0">
                <a:effectLst/>
              </a:rPr>
              <a:t>right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=False</a:t>
            </a:r>
            <a:r>
              <a:rPr lang="fr-FR" dirty="0">
                <a:effectLst/>
              </a:rPr>
              <a:t>)</a:t>
            </a:r>
            <a:r>
              <a:rPr lang="fr-FR" dirty="0"/>
              <a:t> </a:t>
            </a:r>
          </a:p>
          <a:p>
            <a:r>
              <a:rPr lang="fr-FR" dirty="0" err="1">
                <a:effectLst/>
              </a:rPr>
              <a:t>idx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np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argmin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np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abs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lam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-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1</a:t>
            </a:r>
            <a:r>
              <a:rPr lang="fr-FR" dirty="0">
                <a:effectLst/>
              </a:rPr>
              <a:t>))</a:t>
            </a:r>
            <a:r>
              <a:rPr lang="fr-FR" dirty="0"/>
              <a:t> </a:t>
            </a:r>
          </a:p>
          <a:p>
            <a:r>
              <a:rPr lang="fr-FR" dirty="0">
                <a:effectLst/>
              </a:rPr>
              <a:t>w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=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np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real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vec</a:t>
            </a:r>
            <a:r>
              <a:rPr lang="fr-FR" dirty="0">
                <a:effectLst/>
              </a:rPr>
              <a:t>[:,</a:t>
            </a:r>
            <a:r>
              <a:rPr lang="fr-FR" dirty="0"/>
              <a:t> </a:t>
            </a:r>
            <a:r>
              <a:rPr lang="fr-FR" dirty="0" err="1">
                <a:effectLst/>
              </a:rPr>
              <a:t>idx</a:t>
            </a:r>
            <a:r>
              <a:rPr lang="fr-FR" dirty="0">
                <a:effectLst/>
              </a:rPr>
              <a:t>])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pi = [0,48 0,43, 0,09]</a:t>
            </a:r>
          </a:p>
          <a:p>
            <a:r>
              <a:rPr lang="fr-FR" dirty="0">
                <a:effectLst/>
              </a:rPr>
              <a:t>w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/</a:t>
            </a:r>
            <a:r>
              <a:rPr lang="fr-FR" dirty="0" err="1">
                <a:effectLst/>
              </a:rPr>
              <a:t>w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ETH Light" pitchFamily="2" charset="0"/>
                <a:ea typeface="+mn-ea"/>
                <a:cs typeface="+mn-cs"/>
              </a:rPr>
              <a:t>.</a:t>
            </a:r>
            <a:r>
              <a:rPr lang="fr-FR" dirty="0" err="1">
                <a:effectLst/>
              </a:rPr>
              <a:t>sum</a:t>
            </a:r>
            <a:r>
              <a:rPr lang="fr-FR" dirty="0">
                <a:effectLst/>
              </a:rPr>
              <a:t>()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7824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pi = [0,48 0,43, 0,09]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2104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KL-Divergence: if Q(x) equals 0, than P(x) also needs to be 0 (</a:t>
            </a:r>
            <a:r>
              <a:rPr lang="en-US" dirty="0" err="1"/>
              <a:t>lim</a:t>
            </a:r>
            <a:r>
              <a:rPr lang="en-US" dirty="0"/>
              <a:t> x-&gt;0, x*log(x) = 0)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7664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KL-Divergence: if Q(x) equals 0, than P(x) also needs to be 0 (</a:t>
            </a:r>
            <a:r>
              <a:rPr lang="en-US" dirty="0" err="1"/>
              <a:t>lim</a:t>
            </a:r>
            <a:r>
              <a:rPr lang="en-US" dirty="0"/>
              <a:t> x-&gt;0, x*log(x) = 0)</a:t>
            </a:r>
          </a:p>
          <a:p>
            <a:r>
              <a:rPr lang="en-US" dirty="0"/>
              <a:t>JS-Divergence: between 0 and 1 for log with base 2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5378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Hellinger Distance: bounded between 0 and 1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9516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-&gt; Use Hellinger Distance between expected frequencies</a:t>
            </a:r>
          </a:p>
          <a:p>
            <a:r>
              <a:rPr lang="en-US" dirty="0"/>
              <a:t>-&gt; Compute standard k-means on pairwise distance matrices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F0B57-B63F-4711-A482-2ACA114C1232}" type="slidenum">
              <a:rPr lang="en-GB" smtClean="0"/>
              <a:pPr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1739189"/>
            <a:ext cx="9144000" cy="2891333"/>
          </a:xfrm>
          <a:noFill/>
        </p:spPr>
        <p:txBody>
          <a:bodyPr anchor="b" anchorCtr="1"/>
          <a:lstStyle>
            <a:lvl1pPr marL="0" indent="0" algn="ctr">
              <a:buNone/>
              <a:defRPr sz="3200">
                <a:solidFill>
                  <a:schemeClr val="tx1">
                    <a:alpha val="2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transparent</a:t>
            </a:r>
          </a:p>
          <a:p>
            <a:r>
              <a:rPr lang="en-US" dirty="0"/>
              <a:t>background picture</a:t>
            </a:r>
          </a:p>
        </p:txBody>
      </p:sp>
      <p:sp>
        <p:nvSpPr>
          <p:cNvPr id="10" name="Rectangle 13"/>
          <p:cNvSpPr>
            <a:spLocks noChangeArrowheads="1"/>
          </p:cNvSpPr>
          <p:nvPr userDrawn="1"/>
        </p:nvSpPr>
        <p:spPr bwMode="auto">
          <a:xfrm>
            <a:off x="320040" y="-1"/>
            <a:ext cx="8503920" cy="22439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>
              <a:solidFill>
                <a:srgbClr val="566B73"/>
              </a:solidFill>
            </a:endParaRPr>
          </a:p>
        </p:txBody>
      </p:sp>
      <p:sp>
        <p:nvSpPr>
          <p:cNvPr id="12083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20040" y="1483415"/>
            <a:ext cx="8503920" cy="752579"/>
          </a:xfrm>
        </p:spPr>
        <p:txBody>
          <a:bodyPr anchor="b"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2083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20040" y="2383649"/>
            <a:ext cx="8503920" cy="563842"/>
          </a:xfrm>
        </p:spPr>
        <p:txBody>
          <a:bodyPr anchor="ctr" anchorCtr="0"/>
          <a:lstStyle>
            <a:lvl1pPr marL="0" indent="0" algn="ctr">
              <a:buFontTx/>
              <a:buNone/>
              <a:defRPr sz="2600"/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1028" name="Picture 4" descr="Summer Research Institute">
            <a:extLst>
              <a:ext uri="{FF2B5EF4-FFF2-40B4-BE49-F238E27FC236}">
                <a16:creationId xmlns:a16="http://schemas.microsoft.com/office/drawing/2014/main" id="{755D4814-2DCD-4B77-A34F-193AF097967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8" t="10000" r="33577" b="41022"/>
          <a:stretch/>
        </p:blipFill>
        <p:spPr bwMode="auto">
          <a:xfrm>
            <a:off x="8683083" y="4823287"/>
            <a:ext cx="397733" cy="2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C2F21C-F40C-4821-83B8-FBA6311BEF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561" t="39747" r="27344" b="41030"/>
          <a:stretch/>
        </p:blipFill>
        <p:spPr>
          <a:xfrm>
            <a:off x="81779" y="4823423"/>
            <a:ext cx="854925" cy="27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4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E87D84-D34C-4A7E-A43A-A5C370545E4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20040" y="0"/>
            <a:ext cx="8509406" cy="70226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0" tIns="27432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858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1" y="3305176"/>
            <a:ext cx="8503919" cy="1021556"/>
          </a:xfrm>
          <a:noFill/>
        </p:spPr>
        <p:txBody>
          <a:bodyPr lIns="182880" tIns="0" rIns="182880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"/>
            <a:ext cx="8503920" cy="3305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DBB3E8-BA4D-4FB6-A2FB-6E3F4EDE2D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2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041" y="871834"/>
            <a:ext cx="4175760" cy="37033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77824"/>
            <a:ext cx="4175760" cy="37033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2CA632-D5EB-4966-A4E4-6FCBDEC4F4D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20040" y="0"/>
            <a:ext cx="8509406" cy="70226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0" tIns="27432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0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CDA983-B77B-4441-9888-9D233529D59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sz="half" idx="12"/>
          </p:nvPr>
        </p:nvSpPr>
        <p:spPr>
          <a:xfrm>
            <a:off x="320041" y="1566062"/>
            <a:ext cx="4178808" cy="3009092"/>
          </a:xfrm>
        </p:spPr>
        <p:txBody>
          <a:bodyPr/>
          <a:lstStyle>
            <a:lvl1pPr>
              <a:defRPr lang="en-US" sz="2000" dirty="0" smtClean="0"/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US" sz="1600" dirty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70903"/>
            <a:ext cx="4175760" cy="300425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871834"/>
            <a:ext cx="4177106" cy="719222"/>
          </a:xfrm>
        </p:spPr>
        <p:txBody>
          <a:bodyPr tIns="91440" bIns="91440" anchor="t" anchorCtr="0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1" y="871834"/>
            <a:ext cx="4178808" cy="719222"/>
          </a:xfrm>
        </p:spPr>
        <p:txBody>
          <a:bodyPr tIns="91440" bIns="91440" anchor="t" anchorCtr="0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20040" y="0"/>
            <a:ext cx="8509406" cy="70226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0" tIns="27432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24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539E46-B82C-4EE1-B9B6-013708D6E4F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20040" y="0"/>
            <a:ext cx="8509406" cy="70226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0" tIns="27432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04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6A7B30-FF76-4BAD-94EB-E085F62C1B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"/>
            <a:ext cx="5248910" cy="4594622"/>
          </a:xfrm>
        </p:spPr>
        <p:txBody>
          <a:bodyPr tIns="45720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041" y="1379306"/>
            <a:ext cx="3145473" cy="321531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BB61E3-FA9B-4BEE-9D87-8B4B1DA9E75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2"/>
          </p:nvPr>
        </p:nvSpPr>
        <p:spPr>
          <a:xfrm>
            <a:off x="320040" y="1"/>
            <a:ext cx="3145536" cy="1410128"/>
          </a:xfrm>
        </p:spPr>
        <p:txBody>
          <a:bodyPr lIns="182880" tIns="457200" bIns="91440" anchor="t" anchorCtr="0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845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3667875"/>
            <a:ext cx="8503920" cy="357629"/>
          </a:xfrm>
          <a:noFill/>
        </p:spPr>
        <p:txBody>
          <a:bodyPr lIns="91440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" y="223631"/>
            <a:ext cx="8503920" cy="33220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040" y="4025503"/>
            <a:ext cx="850392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2C6523-EF14-4F0E-B398-DDF32F01F3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7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090133-3556-448D-925F-EBAD21BB06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1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42048" y="0"/>
            <a:ext cx="1581912" cy="4557285"/>
          </a:xfrm>
          <a:solidFill>
            <a:schemeClr val="accent3"/>
          </a:solidFill>
        </p:spPr>
        <p:txBody>
          <a:bodyPr vert="eaVert" tIns="457200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040" y="0"/>
            <a:ext cx="6812280" cy="4557285"/>
          </a:xfrm>
        </p:spPr>
        <p:txBody>
          <a:bodyPr vert="eaVert" lIns="182880" tIns="45720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604411-CE99-48D3-9064-B9EF6921CA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3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20040" y="0"/>
            <a:ext cx="8509406" cy="70226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0" tIns="27432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Titelmasterformat durch Klicken bearbeiten</a:t>
            </a:r>
            <a:endParaRPr lang="en-US" dirty="0"/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0" y="4761900"/>
            <a:ext cx="9144000" cy="3816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55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0040" y="877825"/>
            <a:ext cx="8503920" cy="3717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1550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1" y="4882051"/>
            <a:ext cx="503237" cy="140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ABB7B7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</a:lstStyle>
          <a:p>
            <a:fld id="{2BA5C7A1-BCEE-4CD2-9C2D-1272337811B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9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+mj-lt"/>
          <a:ea typeface="Open Sans" pitchFamily="34" charset="0"/>
          <a:cs typeface="Open Sans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ETH Light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 b="0">
          <a:solidFill>
            <a:schemeClr val="tx1"/>
          </a:solidFill>
          <a:latin typeface="+mn-lt"/>
          <a:ea typeface="Open Sans" pitchFamily="34" charset="0"/>
          <a:cs typeface="Open Sans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0">
          <a:solidFill>
            <a:schemeClr val="tx1"/>
          </a:solidFill>
          <a:latin typeface="+mn-lt"/>
          <a:ea typeface="Open Sans" pitchFamily="34" charset="0"/>
          <a:cs typeface="Open Sans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 b="0">
          <a:solidFill>
            <a:schemeClr val="tx1"/>
          </a:solidFill>
          <a:latin typeface="+mn-lt"/>
          <a:ea typeface="Open Sans" pitchFamily="34" charset="0"/>
          <a:cs typeface="Open Sans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 b="0">
          <a:solidFill>
            <a:schemeClr val="tx1"/>
          </a:solidFill>
          <a:latin typeface="+mn-lt"/>
          <a:ea typeface="Open Sans" pitchFamily="34" charset="0"/>
          <a:cs typeface="Open Sans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 b="0">
          <a:solidFill>
            <a:schemeClr val="tx1"/>
          </a:solidFill>
          <a:latin typeface="+mn-lt"/>
          <a:ea typeface="Open Sans" pitchFamily="34" charset="0"/>
          <a:cs typeface="Open Sans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7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320040" y="3890885"/>
            <a:ext cx="8503920" cy="563842"/>
          </a:xfrm>
        </p:spPr>
        <p:txBody>
          <a:bodyPr/>
          <a:lstStyle/>
          <a:p>
            <a:r>
              <a:rPr lang="en-US" sz="2200" dirty="0"/>
              <a:t>Machine Learning for Behavioral Data</a:t>
            </a:r>
          </a:p>
          <a:p>
            <a:r>
              <a:rPr lang="en-US" sz="2200" dirty="0"/>
              <a:t>April 14,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3711BF-1150-4AD4-B025-85C7C8A760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Series Clustering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43066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1"/>
    </mc:Choice>
    <mc:Fallback xmlns="">
      <p:transition spd="slow" advTm="154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B22D3847-FC40-4C33-83C3-62BED385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0"/>
            <a:ext cx="8509406" cy="702260"/>
          </a:xfrm>
        </p:spPr>
        <p:txBody>
          <a:bodyPr/>
          <a:lstStyle/>
          <a:p>
            <a:r>
              <a:rPr lang="en-US" dirty="0"/>
              <a:t>Today’s Topic</a:t>
            </a:r>
            <a:endParaRPr lang="en-C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41CE6A-D8E2-40E9-9F54-034127B27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354763"/>
              </p:ext>
            </p:extLst>
          </p:nvPr>
        </p:nvGraphicFramePr>
        <p:xfrm>
          <a:off x="2242602" y="1231968"/>
          <a:ext cx="4658797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99597">
                  <a:extLst>
                    <a:ext uri="{9D8B030D-6E8A-4147-A177-3AD203B41FA5}">
                      <a16:colId xmlns:a16="http://schemas.microsoft.com/office/drawing/2014/main" val="546230514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3695365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  <a:endParaRPr lang="en-CH" dirty="0"/>
                    </a:p>
                  </a:txBody>
                  <a:tcPr>
                    <a:solidFill>
                      <a:srgbClr val="005E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Lecture/Lab</a:t>
                      </a:r>
                      <a:endParaRPr lang="en-CH" dirty="0"/>
                    </a:p>
                  </a:txBody>
                  <a:tcPr>
                    <a:solidFill>
                      <a:srgbClr val="005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62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A4"/>
                          </a:solidFill>
                        </a:rPr>
                        <a:t>9</a:t>
                      </a:r>
                      <a:endParaRPr lang="en-CH" b="1" dirty="0">
                        <a:solidFill>
                          <a:srgbClr val="005EA4"/>
                        </a:solidFill>
                      </a:endParaRPr>
                    </a:p>
                  </a:txBody>
                  <a:tcPr>
                    <a:solidFill>
                      <a:srgbClr val="AF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5EA4"/>
                          </a:solidFill>
                        </a:rPr>
                        <a:t>Time Series Clustering</a:t>
                      </a:r>
                      <a:endParaRPr lang="en-CH" b="1" dirty="0">
                        <a:solidFill>
                          <a:srgbClr val="005EA4"/>
                        </a:solidFill>
                      </a:endParaRPr>
                    </a:p>
                  </a:txBody>
                  <a:tcPr>
                    <a:solidFill>
                      <a:srgbClr val="AF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7F7F7F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CH" sz="1800" b="0" kern="1200" dirty="0">
                        <a:solidFill>
                          <a:srgbClr val="7F7F7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 err="1">
                          <a:solidFill>
                            <a:srgbClr val="7F7F7F"/>
                          </a:solidFill>
                          <a:latin typeface="+mn-lt"/>
                          <a:ea typeface="+mn-ea"/>
                          <a:cs typeface="+mn-cs"/>
                        </a:rPr>
                        <a:t>Explainability</a:t>
                      </a:r>
                      <a:endParaRPr lang="en-CH" sz="1800" b="0" kern="1200" dirty="0">
                        <a:solidFill>
                          <a:srgbClr val="7F7F7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1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7F7F7F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CH" sz="1800" b="0" kern="1200" dirty="0">
                        <a:solidFill>
                          <a:srgbClr val="7F7F7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7F7F7F"/>
                          </a:solidFill>
                          <a:latin typeface="+mn-lt"/>
                          <a:ea typeface="+mn-ea"/>
                          <a:cs typeface="+mn-cs"/>
                        </a:rPr>
                        <a:t>Fairness</a:t>
                      </a:r>
                      <a:endParaRPr lang="en-CH" sz="1800" b="0" kern="1200" dirty="0">
                        <a:solidFill>
                          <a:srgbClr val="7F7F7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1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F7F7F"/>
                          </a:solidFill>
                        </a:rPr>
                        <a:t>12</a:t>
                      </a:r>
                      <a:endParaRPr lang="en-CH" b="0" dirty="0">
                        <a:solidFill>
                          <a:srgbClr val="7F7F7F"/>
                        </a:solidFill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7F7F7F"/>
                          </a:solidFill>
                          <a:latin typeface="+mn-lt"/>
                          <a:ea typeface="+mn-ea"/>
                          <a:cs typeface="+mn-cs"/>
                        </a:rPr>
                        <a:t>Reserve</a:t>
                      </a:r>
                      <a:endParaRPr lang="en-CH" sz="1800" b="0" kern="1200" dirty="0">
                        <a:solidFill>
                          <a:srgbClr val="7F7F7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802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F7F7F"/>
                          </a:solidFill>
                        </a:rPr>
                        <a:t>13</a:t>
                      </a:r>
                      <a:endParaRPr lang="en-CH" b="0" dirty="0">
                        <a:solidFill>
                          <a:srgbClr val="7F7F7F"/>
                        </a:solidFill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F7F7F"/>
                          </a:solidFill>
                        </a:rPr>
                        <a:t>No Lecture</a:t>
                      </a:r>
                      <a:endParaRPr lang="en-CH" b="0" dirty="0">
                        <a:solidFill>
                          <a:srgbClr val="7F7F7F"/>
                        </a:solidFill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8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rgbClr val="7F7F7F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en-CH" sz="1800" b="0" kern="1200" dirty="0">
                        <a:solidFill>
                          <a:srgbClr val="7F7F7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F7F7F"/>
                          </a:solidFill>
                        </a:rPr>
                        <a:t>No Lecture</a:t>
                      </a:r>
                      <a:endParaRPr lang="en-CH" b="0" dirty="0">
                        <a:solidFill>
                          <a:srgbClr val="7F7F7F"/>
                        </a:solidFill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439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F7F7F"/>
                          </a:solidFill>
                        </a:rPr>
                        <a:t>15</a:t>
                      </a:r>
                      <a:endParaRPr lang="en-CH" b="0" dirty="0">
                        <a:solidFill>
                          <a:srgbClr val="7F7F7F"/>
                        </a:solidFill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7F7F7F"/>
                          </a:solidFill>
                        </a:rPr>
                        <a:t>Poster Session</a:t>
                      </a:r>
                      <a:endParaRPr lang="en-CH" b="0" dirty="0">
                        <a:solidFill>
                          <a:srgbClr val="7F7F7F"/>
                        </a:solidFill>
                      </a:endParaRPr>
                    </a:p>
                  </a:txBody>
                  <a:tcP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63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87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C624F-4CAB-47EE-8699-2FC96914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ready for today’s lecture…</a:t>
            </a:r>
            <a:endParaRPr lang="en-CH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B0171DA-7CDC-4949-AE3C-4E122A84A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481" y="1008453"/>
            <a:ext cx="7651430" cy="702260"/>
          </a:xfrm>
        </p:spPr>
        <p:txBody>
          <a:bodyPr/>
          <a:lstStyle/>
          <a:p>
            <a:pPr marL="452438" indent="-452438">
              <a:buFont typeface="Wingdings" panose="05000000000000000000" pitchFamily="2" charset="2"/>
              <a:buChar char="Ø"/>
            </a:pPr>
            <a:r>
              <a:rPr lang="en-US" dirty="0"/>
              <a:t>Join us on </a:t>
            </a:r>
            <a:r>
              <a:rPr lang="en-US" dirty="0" err="1"/>
              <a:t>SpeakUp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E2E28-7921-4584-B3AC-42CC9908083D}"/>
              </a:ext>
            </a:extLst>
          </p:cNvPr>
          <p:cNvSpPr txBox="1"/>
          <p:nvPr/>
        </p:nvSpPr>
        <p:spPr>
          <a:xfrm>
            <a:off x="980034" y="2898671"/>
            <a:ext cx="4476222" cy="46166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n-lt"/>
              </a:rPr>
              <a:t>https://go.epfl.ch/mlbd-</a:t>
            </a:r>
            <a:r>
              <a:rPr lang="en-US" b="1" dirty="0">
                <a:solidFill>
                  <a:srgbClr val="FF0000"/>
                </a:solidFill>
              </a:rPr>
              <a:t>speakup</a:t>
            </a:r>
            <a:endParaRPr lang="en-CH" b="1" dirty="0" err="1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E04C4-3EA7-4007-934A-D4EA8F1B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028" y="1910303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7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7B6FF5-D4FB-4809-A529-FB3BD1DB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quiz about the past…</a:t>
            </a:r>
            <a:endParaRPr lang="en-CH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4A08EEC-60F1-4D4D-9319-99624558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526" y="881203"/>
            <a:ext cx="8503920" cy="233245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In K-Means clustering, which of the following parameters affect the goodness of the solution?</a:t>
            </a:r>
          </a:p>
          <a:p>
            <a:pPr marL="457200" indent="-457200">
              <a:buFontTx/>
              <a:buAutoNum type="alphaLcParenR"/>
            </a:pPr>
            <a:r>
              <a:rPr lang="en-US" sz="2400" dirty="0"/>
              <a:t>Number of iterations</a:t>
            </a:r>
          </a:p>
          <a:p>
            <a:pPr marL="457200" indent="-457200">
              <a:buAutoNum type="alphaLcParenR"/>
            </a:pPr>
            <a:r>
              <a:rPr lang="en-US" sz="2400" dirty="0"/>
              <a:t>Initial positioning of cluster centers</a:t>
            </a:r>
          </a:p>
          <a:p>
            <a:pPr marL="457200" indent="-457200">
              <a:buAutoNum type="alphaLcParenR"/>
            </a:pPr>
            <a:r>
              <a:rPr lang="en-US" sz="2400" dirty="0"/>
              <a:t>Choice of 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FC0BF-EA2F-1B4C-8D24-90E0199236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97" t="24100" r="37846" b="53992"/>
          <a:stretch/>
        </p:blipFill>
        <p:spPr>
          <a:xfrm>
            <a:off x="1759545" y="3472069"/>
            <a:ext cx="5635883" cy="10236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2E434-F724-4A2A-9736-2CF43B558B36}"/>
              </a:ext>
            </a:extLst>
          </p:cNvPr>
          <p:cNvSpPr txBox="1"/>
          <p:nvPr/>
        </p:nvSpPr>
        <p:spPr>
          <a:xfrm>
            <a:off x="2179554" y="4774168"/>
            <a:ext cx="4784892" cy="369332"/>
          </a:xfrm>
          <a:prstGeom prst="rect">
            <a:avLst/>
          </a:prstGeom>
          <a:noFill/>
          <a:ln w="412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n-lt"/>
              </a:rPr>
              <a:t>https://</a:t>
            </a:r>
            <a:r>
              <a:rPr lang="en-US" sz="1800" b="1" dirty="0" err="1">
                <a:solidFill>
                  <a:srgbClr val="FF0000"/>
                </a:solidFill>
                <a:latin typeface="+mn-lt"/>
              </a:rPr>
              <a:t>go.epfl.</a:t>
            </a:r>
            <a:r>
              <a:rPr lang="en-US" sz="1800" b="1" err="1">
                <a:solidFill>
                  <a:srgbClr val="FF0000"/>
                </a:solidFill>
                <a:latin typeface="+mn-lt"/>
              </a:rPr>
              <a:t>ch</a:t>
            </a:r>
            <a:r>
              <a:rPr lang="en-US" sz="1800" b="1">
                <a:solidFill>
                  <a:srgbClr val="FF0000"/>
                </a:solidFill>
                <a:latin typeface="+mn-lt"/>
              </a:rPr>
              <a:t>/mlbd-speakup</a:t>
            </a:r>
            <a:endParaRPr lang="en-CH" sz="1800" b="1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086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7B6FF5-D4FB-4809-A529-FB3BD1DB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quiz about the past…</a:t>
            </a:r>
            <a:endParaRPr lang="en-CH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4A08EEC-60F1-4D4D-9319-99624558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888384"/>
            <a:ext cx="8503920" cy="137485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K-Means clustering is useful when dealing with non-convex clusters: </a:t>
            </a:r>
          </a:p>
          <a:p>
            <a:pPr marL="457200" indent="-457200">
              <a:buAutoNum type="alphaLcParenR"/>
            </a:pPr>
            <a:r>
              <a:rPr lang="en-US" sz="2400" dirty="0"/>
              <a:t>True </a:t>
            </a:r>
          </a:p>
          <a:p>
            <a:pPr marL="457200" indent="-457200">
              <a:buAutoNum type="alphaLcParenR"/>
            </a:pPr>
            <a:r>
              <a:rPr lang="en-US" sz="2400" dirty="0"/>
              <a:t>False</a:t>
            </a:r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FC0BF-EA2F-1B4C-8D24-90E0199236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97" t="24100" r="37846" b="53992"/>
          <a:stretch/>
        </p:blipFill>
        <p:spPr>
          <a:xfrm>
            <a:off x="1624256" y="2827812"/>
            <a:ext cx="5906460" cy="1072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4DA6AC-C339-4EF0-86B0-5CB668DE97E1}"/>
              </a:ext>
            </a:extLst>
          </p:cNvPr>
          <p:cNvSpPr txBox="1"/>
          <p:nvPr/>
        </p:nvSpPr>
        <p:spPr>
          <a:xfrm>
            <a:off x="2179554" y="4774168"/>
            <a:ext cx="4784892" cy="369332"/>
          </a:xfrm>
          <a:prstGeom prst="rect">
            <a:avLst/>
          </a:prstGeom>
          <a:noFill/>
          <a:ln w="412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n-lt"/>
              </a:rPr>
              <a:t>https://</a:t>
            </a:r>
            <a:r>
              <a:rPr lang="en-US" sz="1800" b="1" dirty="0" err="1">
                <a:solidFill>
                  <a:srgbClr val="FF0000"/>
                </a:solidFill>
                <a:latin typeface="+mn-lt"/>
              </a:rPr>
              <a:t>go.epfl.</a:t>
            </a:r>
            <a:r>
              <a:rPr lang="en-US" sz="1800" b="1" err="1">
                <a:solidFill>
                  <a:srgbClr val="FF0000"/>
                </a:solidFill>
                <a:latin typeface="+mn-lt"/>
              </a:rPr>
              <a:t>ch</a:t>
            </a:r>
            <a:r>
              <a:rPr lang="en-US" sz="1800" b="1">
                <a:solidFill>
                  <a:srgbClr val="FF0000"/>
                </a:solidFill>
                <a:latin typeface="+mn-lt"/>
              </a:rPr>
              <a:t>/mlbd-speakup</a:t>
            </a:r>
            <a:endParaRPr lang="en-CH" sz="1800" b="1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858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7B6FF5-D4FB-4809-A529-FB3BD1DB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quiz about the past…</a:t>
            </a:r>
            <a:endParaRPr lang="en-CH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4A08EEC-60F1-4D4D-9319-99624558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088116"/>
            <a:ext cx="8340256" cy="137485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In a binary classification problem, it is appropriate to use the following activation function for the output layer:</a:t>
            </a:r>
          </a:p>
          <a:p>
            <a:pPr marL="457200" indent="-457200">
              <a:buAutoNum type="alphaLcParenR"/>
            </a:pPr>
            <a:r>
              <a:rPr lang="en-US" sz="2400" dirty="0"/>
              <a:t>Linear</a:t>
            </a:r>
          </a:p>
          <a:p>
            <a:pPr marL="457200" indent="-457200">
              <a:buAutoNum type="alphaLcParenR"/>
            </a:pPr>
            <a:r>
              <a:rPr lang="en-US" sz="2400" dirty="0"/>
              <a:t>Tanh</a:t>
            </a:r>
          </a:p>
          <a:p>
            <a:pPr marL="457200" indent="-457200">
              <a:buAutoNum type="alphaLcParenR"/>
            </a:pPr>
            <a:r>
              <a:rPr lang="en-US" sz="2400" dirty="0"/>
              <a:t>Sigmoid</a:t>
            </a:r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FC0BF-EA2F-1B4C-8D24-90E0199236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97" t="24100" r="37846" b="53992"/>
          <a:stretch/>
        </p:blipFill>
        <p:spPr>
          <a:xfrm>
            <a:off x="2274217" y="3569702"/>
            <a:ext cx="4595565" cy="834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0BB875-142E-4F2F-BE86-AE58E4B1754D}"/>
              </a:ext>
            </a:extLst>
          </p:cNvPr>
          <p:cNvSpPr txBox="1"/>
          <p:nvPr/>
        </p:nvSpPr>
        <p:spPr>
          <a:xfrm>
            <a:off x="2179554" y="4774168"/>
            <a:ext cx="4784892" cy="369332"/>
          </a:xfrm>
          <a:prstGeom prst="rect">
            <a:avLst/>
          </a:prstGeom>
          <a:noFill/>
          <a:ln w="412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n-lt"/>
              </a:rPr>
              <a:t>https://</a:t>
            </a:r>
            <a:r>
              <a:rPr lang="en-US" sz="1800" b="1" dirty="0" err="1">
                <a:solidFill>
                  <a:srgbClr val="FF0000"/>
                </a:solidFill>
                <a:latin typeface="+mn-lt"/>
              </a:rPr>
              <a:t>go.epfl.</a:t>
            </a:r>
            <a:r>
              <a:rPr lang="en-US" sz="1800" b="1" err="1">
                <a:solidFill>
                  <a:srgbClr val="FF0000"/>
                </a:solidFill>
                <a:latin typeface="+mn-lt"/>
              </a:rPr>
              <a:t>ch</a:t>
            </a:r>
            <a:r>
              <a:rPr lang="en-US" sz="1800" b="1">
                <a:solidFill>
                  <a:srgbClr val="FF0000"/>
                </a:solidFill>
                <a:latin typeface="+mn-lt"/>
              </a:rPr>
              <a:t>/mlbd-speakup</a:t>
            </a:r>
            <a:endParaRPr lang="en-CH" sz="1800" b="1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331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6429103" cy="371798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Aggregating features over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Defining fixed time intervals (weeks, levels in a game, 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Dynamic Time Warping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String Metrics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Markov Models</a:t>
            </a:r>
            <a:endParaRPr lang="en-CH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– Clustering Time Series Data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A7EECE-C7B1-47FB-95D5-3A97AA16F47E}"/>
              </a:ext>
            </a:extLst>
          </p:cNvPr>
          <p:cNvCxnSpPr/>
          <p:nvPr/>
        </p:nvCxnSpPr>
        <p:spPr bwMode="auto">
          <a:xfrm>
            <a:off x="457200" y="2935626"/>
            <a:ext cx="81153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CCD3E96-E70C-4D1D-9540-0B921CDB50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" t="5396" r="6940"/>
          <a:stretch/>
        </p:blipFill>
        <p:spPr>
          <a:xfrm>
            <a:off x="6758149" y="1217242"/>
            <a:ext cx="1805345" cy="1436914"/>
          </a:xfrm>
          <a:prstGeom prst="rect">
            <a:avLst/>
          </a:prstGeom>
        </p:spPr>
      </p:pic>
      <p:pic>
        <p:nvPicPr>
          <p:cNvPr id="7" name="Picture 2" descr="https://lh3.googleusercontent.com/kHemZxVNVOC9Fq3ZnlDGHaCtiWsaH68oKbeo6KdFhUXdjN3AdtvXEGwn6Hubzi-m2bsO4t19GaOoPi_dMRmlZtdYmQ-DGIoXw-EgjIhQTu8VeE9Mqf9jK6TJq9QNk8Do_JL51x0GfAA">
            <a:extLst>
              <a:ext uri="{FF2B5EF4-FFF2-40B4-BE49-F238E27FC236}">
                <a16:creationId xmlns:a16="http://schemas.microsoft.com/office/drawing/2014/main" id="{54B7EDB3-5C1A-492A-9D2D-B679503E5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" r="49470" b="42325"/>
          <a:stretch/>
        </p:blipFill>
        <p:spPr bwMode="auto">
          <a:xfrm>
            <a:off x="6814456" y="3169138"/>
            <a:ext cx="1692730" cy="114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4CB7BB-4DC3-437E-88D7-34F95B1373BA}"/>
              </a:ext>
            </a:extLst>
          </p:cNvPr>
          <p:cNvSpPr txBox="1"/>
          <p:nvPr/>
        </p:nvSpPr>
        <p:spPr>
          <a:xfrm>
            <a:off x="6814456" y="4257260"/>
            <a:ext cx="1687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Action Sequences</a:t>
            </a:r>
            <a:endParaRPr lang="en-CH" sz="16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422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C2ADED-4324-434D-83CF-7A3EE34A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Use Case</a:t>
            </a:r>
            <a:endParaRPr lang="en-C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1E6A8-B84D-4268-8B19-E35F36EB8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39" y="917581"/>
            <a:ext cx="8605299" cy="1587079"/>
          </a:xfrm>
        </p:spPr>
        <p:txBody>
          <a:bodyPr/>
          <a:lstStyle/>
          <a:p>
            <a:r>
              <a:rPr lang="en-US" sz="2000" dirty="0"/>
              <a:t>Synthetic data of 30 high school students</a:t>
            </a:r>
          </a:p>
          <a:p>
            <a:r>
              <a:rPr lang="en-US" sz="2000" dirty="0"/>
              <a:t>Time spent on an e-learning platform over one year (computed per </a:t>
            </a:r>
            <a:r>
              <a:rPr lang="en-US" sz="2000" dirty="0" err="1"/>
              <a:t>biweek</a:t>
            </a:r>
            <a:r>
              <a:rPr lang="en-US" sz="2000" dirty="0"/>
              <a:t>)</a:t>
            </a:r>
          </a:p>
          <a:p>
            <a:r>
              <a:rPr lang="en-US" sz="2000" dirty="0"/>
              <a:t>Three clusters: 1) </a:t>
            </a:r>
            <a:r>
              <a:rPr lang="en-US" sz="2000" dirty="0" err="1"/>
              <a:t>precrastinators</a:t>
            </a:r>
            <a:r>
              <a:rPr lang="en-US" sz="2000" dirty="0"/>
              <a:t>, 2) regular, 3) procrastinators</a:t>
            </a:r>
            <a:endParaRPr lang="en-CH" sz="2000" dirty="0"/>
          </a:p>
        </p:txBody>
      </p:sp>
      <p:pic>
        <p:nvPicPr>
          <p:cNvPr id="10" name="Google Shape;66;p15">
            <a:extLst>
              <a:ext uri="{FF2B5EF4-FFF2-40B4-BE49-F238E27FC236}">
                <a16:creationId xmlns:a16="http://schemas.microsoft.com/office/drawing/2014/main" id="{22E17283-2375-486A-BA78-05D653EE89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797" r="50558" b="70489"/>
          <a:stretch/>
        </p:blipFill>
        <p:spPr>
          <a:xfrm>
            <a:off x="3590386" y="2268378"/>
            <a:ext cx="1432398" cy="1094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1;p16">
            <a:extLst>
              <a:ext uri="{FF2B5EF4-FFF2-40B4-BE49-F238E27FC236}">
                <a16:creationId xmlns:a16="http://schemas.microsoft.com/office/drawing/2014/main" id="{560EE6A2-B650-4EF7-9F2F-4AE1ACB221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74736" b="71414"/>
          <a:stretch/>
        </p:blipFill>
        <p:spPr>
          <a:xfrm>
            <a:off x="1526894" y="3589994"/>
            <a:ext cx="1448203" cy="1054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71;p16">
            <a:extLst>
              <a:ext uri="{FF2B5EF4-FFF2-40B4-BE49-F238E27FC236}">
                <a16:creationId xmlns:a16="http://schemas.microsoft.com/office/drawing/2014/main" id="{0428AFE7-F859-4D65-A613-D6B58F2115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70490" r="74257"/>
          <a:stretch/>
        </p:blipFill>
        <p:spPr>
          <a:xfrm>
            <a:off x="6285271" y="2268378"/>
            <a:ext cx="1475621" cy="108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6;p17">
            <a:extLst>
              <a:ext uri="{FF2B5EF4-FFF2-40B4-BE49-F238E27FC236}">
                <a16:creationId xmlns:a16="http://schemas.microsoft.com/office/drawing/2014/main" id="{001A38A0-5603-4803-A83A-A9C607F5F6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74907" t="36496" b="33616"/>
          <a:stretch/>
        </p:blipFill>
        <p:spPr>
          <a:xfrm>
            <a:off x="4227785" y="3589994"/>
            <a:ext cx="1475621" cy="106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76;p17">
            <a:extLst>
              <a:ext uri="{FF2B5EF4-FFF2-40B4-BE49-F238E27FC236}">
                <a16:creationId xmlns:a16="http://schemas.microsoft.com/office/drawing/2014/main" id="{F59CC267-5264-44C8-B307-D47F7791068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35571" r="75274" b="34541"/>
          <a:stretch/>
        </p:blipFill>
        <p:spPr>
          <a:xfrm>
            <a:off x="6956095" y="3589994"/>
            <a:ext cx="1453996" cy="106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66;p15">
            <a:extLst>
              <a:ext uri="{FF2B5EF4-FFF2-40B4-BE49-F238E27FC236}">
                <a16:creationId xmlns:a16="http://schemas.microsoft.com/office/drawing/2014/main" id="{49EAFAEE-7ED0-42EC-A41E-67C068931F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4612" b="71208"/>
          <a:stretch/>
        </p:blipFill>
        <p:spPr>
          <a:xfrm>
            <a:off x="852279" y="2268378"/>
            <a:ext cx="1475621" cy="1067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58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8030584" cy="3230821"/>
          </a:xfrm>
        </p:spPr>
        <p:txBody>
          <a:bodyPr/>
          <a:lstStyle/>
          <a:p>
            <a:r>
              <a:rPr lang="en-US" sz="2400" b="1" dirty="0"/>
              <a:t>Aggregating features over time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Defining fixed time intervals (weeks, levels in a game, etc.)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Dynamic Time Warping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String Metrics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Markov Models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96825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803EE2-1145-4898-8C35-1A677BF4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877825"/>
            <a:ext cx="8503920" cy="1865375"/>
          </a:xfrm>
        </p:spPr>
        <p:txBody>
          <a:bodyPr/>
          <a:lstStyle/>
          <a:p>
            <a:r>
              <a:rPr lang="en-US" sz="2400" dirty="0"/>
              <a:t>We compute the value of the feature over the whole time series (average, maximum, range, standard deviation)</a:t>
            </a:r>
          </a:p>
          <a:p>
            <a:r>
              <a:rPr lang="en-US" sz="2400" dirty="0"/>
              <a:t>We do not explicitly represent changes in features over time</a:t>
            </a:r>
          </a:p>
          <a:p>
            <a:endParaRPr lang="en-US" sz="2400" dirty="0"/>
          </a:p>
          <a:p>
            <a:r>
              <a:rPr lang="en-US" sz="2400" dirty="0"/>
              <a:t>We can use standard distance/similarity measures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6E2E45-49F4-4566-9667-469976B9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Aggregating features over time</a:t>
            </a:r>
            <a:endParaRPr lang="en-CH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02869A9-2E84-4DBC-A929-04A07F907AFC}"/>
              </a:ext>
            </a:extLst>
          </p:cNvPr>
          <p:cNvSpPr/>
          <p:nvPr/>
        </p:nvSpPr>
        <p:spPr bwMode="auto">
          <a:xfrm>
            <a:off x="474306" y="2809520"/>
            <a:ext cx="293914" cy="255814"/>
          </a:xfrm>
          <a:prstGeom prst="rightArrow">
            <a:avLst/>
          </a:prstGeom>
          <a:solidFill>
            <a:srgbClr val="005EA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801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6271C6-039C-4E87-8BAD-0ECF2537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– Aggregated Data</a:t>
            </a:r>
            <a:endParaRPr lang="en-CH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E574E6-3A61-4370-BAFE-5D33CE1E9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877825"/>
            <a:ext cx="8503920" cy="234907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Run spectral clustering on the average number of hours:</a:t>
            </a:r>
          </a:p>
          <a:p>
            <a:r>
              <a:rPr lang="en-US" sz="2400" dirty="0"/>
              <a:t>Can we interpret the different clusters?</a:t>
            </a:r>
          </a:p>
          <a:p>
            <a:r>
              <a:rPr lang="en-US" sz="2400" dirty="0"/>
              <a:t>Are we able to retrieve the procrastination patterns? If not, why not?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C3D67-4483-47D8-BA29-F7929FDEFE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54" t="24223" r="37897" b="53746"/>
          <a:stretch/>
        </p:blipFill>
        <p:spPr>
          <a:xfrm>
            <a:off x="1767988" y="3283203"/>
            <a:ext cx="5608024" cy="10306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756380-5109-41B4-96F6-69A8BAAB5BEA}"/>
              </a:ext>
            </a:extLst>
          </p:cNvPr>
          <p:cNvSpPr txBox="1"/>
          <p:nvPr/>
        </p:nvSpPr>
        <p:spPr>
          <a:xfrm>
            <a:off x="2179554" y="4774168"/>
            <a:ext cx="4784892" cy="369332"/>
          </a:xfrm>
          <a:prstGeom prst="rect">
            <a:avLst/>
          </a:prstGeom>
          <a:noFill/>
          <a:ln w="412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n-lt"/>
              </a:rPr>
              <a:t>https://</a:t>
            </a:r>
            <a:r>
              <a:rPr lang="en-US" sz="1800" b="1" dirty="0" err="1">
                <a:solidFill>
                  <a:srgbClr val="FF0000"/>
                </a:solidFill>
                <a:latin typeface="+mn-lt"/>
              </a:rPr>
              <a:t>go.epfl.</a:t>
            </a:r>
            <a:r>
              <a:rPr lang="en-US" sz="1800" b="1" err="1">
                <a:solidFill>
                  <a:srgbClr val="FF0000"/>
                </a:solidFill>
                <a:latin typeface="+mn-lt"/>
              </a:rPr>
              <a:t>ch</a:t>
            </a:r>
            <a:r>
              <a:rPr lang="en-US" sz="1800" b="1">
                <a:solidFill>
                  <a:srgbClr val="FF0000"/>
                </a:solidFill>
                <a:latin typeface="+mn-lt"/>
              </a:rPr>
              <a:t>/mlbd-speakup</a:t>
            </a:r>
            <a:endParaRPr lang="en-CH" sz="1800" b="1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333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8225566" cy="323082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Aggregating features over time</a:t>
            </a:r>
          </a:p>
          <a:p>
            <a:r>
              <a:rPr lang="en-US" sz="2400" b="1" dirty="0"/>
              <a:t>Defining fixed time intervals (weeks, levels in a game, etc.)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Dynamic Time Warping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String Metrics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Markov Models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Additional Practice</a:t>
            </a:r>
            <a:endParaRPr lang="en-CH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60001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5C4822-1474-40CA-9EB9-D0BDEB14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feature value at fixed points in time (e.g., weeks, level in a game)</a:t>
            </a:r>
          </a:p>
          <a:p>
            <a:r>
              <a:rPr lang="en-US" dirty="0"/>
              <a:t>We obtain feature vectors with the same length for every student </a:t>
            </a:r>
          </a:p>
          <a:p>
            <a:r>
              <a:rPr lang="en-US" dirty="0"/>
              <a:t>We can use standard distance measures</a:t>
            </a:r>
            <a:endParaRPr lang="en-C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5F27D2-156F-4621-A74D-6785FC7B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fixed time intervals</a:t>
            </a:r>
            <a:endParaRPr lang="en-CH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FB74E6E-6E65-4E72-8E5D-F6D7A03A5307}"/>
              </a:ext>
            </a:extLst>
          </p:cNvPr>
          <p:cNvSpPr/>
          <p:nvPr/>
        </p:nvSpPr>
        <p:spPr bwMode="auto">
          <a:xfrm>
            <a:off x="435429" y="3026940"/>
            <a:ext cx="293914" cy="255814"/>
          </a:xfrm>
          <a:prstGeom prst="rightArrow">
            <a:avLst/>
          </a:prstGeom>
          <a:solidFill>
            <a:srgbClr val="005EA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57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E9FBF4-EADC-4D41-A27C-D5B2F51A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– Fixed Time Intervals</a:t>
            </a:r>
            <a:endParaRPr lang="en-CH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60933E4-4CA3-4817-8D47-9246B6575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010346"/>
            <a:ext cx="8503920" cy="191175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Run spectral clustering on the vectors of </a:t>
            </a:r>
            <a:r>
              <a:rPr lang="en-US" sz="2400" dirty="0" err="1"/>
              <a:t>biweeks</a:t>
            </a:r>
            <a:r>
              <a:rPr lang="en-US" sz="2400" dirty="0"/>
              <a:t> (dimension = 27) using Euclidean distance:</a:t>
            </a:r>
          </a:p>
          <a:p>
            <a:r>
              <a:rPr lang="en-US" sz="2400" dirty="0"/>
              <a:t>What is the optimal number of clusters?</a:t>
            </a:r>
          </a:p>
          <a:p>
            <a:r>
              <a:rPr lang="en-US" sz="2400" dirty="0"/>
              <a:t>How do the results differ from the aggregated feature results?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80B60E-B52D-4267-A910-5BFBE88AA5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54" t="24223" r="37897" b="53746"/>
          <a:stretch/>
        </p:blipFill>
        <p:spPr>
          <a:xfrm>
            <a:off x="1767988" y="3283203"/>
            <a:ext cx="5608024" cy="1030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BD1FCD-3CB2-4B37-AFDA-585CF439BECE}"/>
              </a:ext>
            </a:extLst>
          </p:cNvPr>
          <p:cNvSpPr txBox="1"/>
          <p:nvPr/>
        </p:nvSpPr>
        <p:spPr>
          <a:xfrm>
            <a:off x="2179554" y="4774168"/>
            <a:ext cx="4784892" cy="369332"/>
          </a:xfrm>
          <a:prstGeom prst="rect">
            <a:avLst/>
          </a:prstGeom>
          <a:noFill/>
          <a:ln w="412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n-lt"/>
              </a:rPr>
              <a:t>https://</a:t>
            </a:r>
            <a:r>
              <a:rPr lang="en-US" sz="1800" b="1" dirty="0" err="1">
                <a:solidFill>
                  <a:srgbClr val="FF0000"/>
                </a:solidFill>
                <a:latin typeface="+mn-lt"/>
              </a:rPr>
              <a:t>go.epfl.</a:t>
            </a:r>
            <a:r>
              <a:rPr lang="en-US" sz="1800" b="1" err="1">
                <a:solidFill>
                  <a:srgbClr val="FF0000"/>
                </a:solidFill>
                <a:latin typeface="+mn-lt"/>
              </a:rPr>
              <a:t>ch</a:t>
            </a:r>
            <a:r>
              <a:rPr lang="en-US" sz="1800" b="1">
                <a:solidFill>
                  <a:srgbClr val="FF0000"/>
                </a:solidFill>
                <a:latin typeface="+mn-lt"/>
              </a:rPr>
              <a:t>/mlbd-speakup</a:t>
            </a:r>
            <a:endParaRPr lang="en-CH" sz="1800" b="1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00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8299525" cy="323082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Aggregating features over time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Defining fixed time intervals (weeks, levels in a game, etc.)</a:t>
            </a:r>
          </a:p>
          <a:p>
            <a:r>
              <a:rPr lang="en-US" sz="2400" b="1" dirty="0"/>
              <a:t>Dynamic Time Warping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String Metrics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Markov Models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Additional Practice (if time permits)</a:t>
            </a:r>
            <a:endParaRPr lang="en-CH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24026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6E0B71-14D1-42A9-84B0-A2D088C59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877825"/>
            <a:ext cx="8503920" cy="1571461"/>
          </a:xfrm>
        </p:spPr>
        <p:txBody>
          <a:bodyPr/>
          <a:lstStyle/>
          <a:p>
            <a:r>
              <a:rPr lang="en-US" dirty="0"/>
              <a:t>Compute distance between two time series, which may vary in speed</a:t>
            </a:r>
          </a:p>
          <a:p>
            <a:r>
              <a:rPr lang="en-US" dirty="0"/>
              <a:t>Time series can have different lengths</a:t>
            </a:r>
          </a:p>
          <a:p>
            <a:r>
              <a:rPr lang="en-US" dirty="0"/>
              <a:t>Develop a </a:t>
            </a:r>
            <a:r>
              <a:rPr lang="en-US" b="1" dirty="0"/>
              <a:t>one-to-many</a:t>
            </a:r>
            <a:r>
              <a:rPr lang="en-US" dirty="0"/>
              <a:t> match, i.e. find an </a:t>
            </a:r>
            <a:r>
              <a:rPr lang="en-US" i="1" dirty="0"/>
              <a:t>optimal</a:t>
            </a:r>
            <a:r>
              <a:rPr lang="en-US" dirty="0"/>
              <a:t> </a:t>
            </a:r>
            <a:r>
              <a:rPr lang="en-US" i="1" dirty="0"/>
              <a:t>alignment</a:t>
            </a:r>
            <a:r>
              <a:rPr lang="en-US" dirty="0"/>
              <a:t> between two time series</a:t>
            </a:r>
            <a:endParaRPr lang="en-C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408ADE-AC49-4F6A-8940-B5CD3CC6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</a:t>
            </a:r>
            <a:endParaRPr lang="en-CH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292F774-159A-4E55-BD8E-86F1767A2F98}"/>
              </a:ext>
            </a:extLst>
          </p:cNvPr>
          <p:cNvSpPr/>
          <p:nvPr/>
        </p:nvSpPr>
        <p:spPr bwMode="auto">
          <a:xfrm>
            <a:off x="477077" y="2598347"/>
            <a:ext cx="279479" cy="270749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695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2D6B45-DBE8-4713-A499-3E9C05CA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Spoken Digits</a:t>
            </a:r>
            <a:endParaRPr lang="en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7DCBA-1B48-4058-883A-4D3FC242E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602" y="963892"/>
            <a:ext cx="5758796" cy="36679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91F5A94-C92A-4200-B7D8-4C94D8EE102B}"/>
              </a:ext>
            </a:extLst>
          </p:cNvPr>
          <p:cNvSpPr/>
          <p:nvPr/>
        </p:nvSpPr>
        <p:spPr>
          <a:xfrm>
            <a:off x="-1" y="4819279"/>
            <a:ext cx="91440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[</a:t>
            </a:r>
            <a:r>
              <a:rPr lang="en-US" sz="12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Image Credit: CS 498, Signals AI, University of Illinois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10324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D367D1-2F16-401C-81A9-75E9E1F5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Dynamic Time Warping vs. Euclidean Distance</a:t>
            </a:r>
            <a:endParaRPr lang="en-CH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BBD373-8D57-4136-8250-61742EB04210}"/>
              </a:ext>
            </a:extLst>
          </p:cNvPr>
          <p:cNvGrpSpPr/>
          <p:nvPr/>
        </p:nvGrpSpPr>
        <p:grpSpPr>
          <a:xfrm>
            <a:off x="477887" y="933121"/>
            <a:ext cx="6426115" cy="3745996"/>
            <a:chOff x="638714" y="916793"/>
            <a:chExt cx="6426115" cy="374599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38189D6-9B30-4EB4-8D51-58ADB6DCEC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8095"/>
            <a:stretch/>
          </p:blipFill>
          <p:spPr>
            <a:xfrm>
              <a:off x="638715" y="916793"/>
              <a:ext cx="2997113" cy="178046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389A58B-2DF3-4E9F-B5A6-0D375C1E3145}"/>
                </a:ext>
              </a:extLst>
            </p:cNvPr>
            <p:cNvGrpSpPr/>
            <p:nvPr/>
          </p:nvGrpSpPr>
          <p:grpSpPr>
            <a:xfrm>
              <a:off x="638714" y="2882320"/>
              <a:ext cx="2997113" cy="1780469"/>
              <a:chOff x="3289387" y="2688771"/>
              <a:chExt cx="2997113" cy="178046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FC041A4-E1A7-439C-AD89-47B0CD4ADF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51217" b="6878"/>
              <a:stretch/>
            </p:blipFill>
            <p:spPr>
              <a:xfrm>
                <a:off x="3289387" y="2688771"/>
                <a:ext cx="2997113" cy="17804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FFB2DC1-5732-4F22-9780-CD092C847142}"/>
                  </a:ext>
                </a:extLst>
              </p:cNvPr>
              <p:cNvCxnSpPr/>
              <p:nvPr/>
            </p:nvCxnSpPr>
            <p:spPr bwMode="auto">
              <a:xfrm flipV="1">
                <a:off x="3461657" y="3314700"/>
                <a:ext cx="0" cy="996305"/>
              </a:xfrm>
              <a:prstGeom prst="line">
                <a:avLst/>
              </a:prstGeom>
              <a:solidFill>
                <a:schemeClr val="accent1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E9017F-F151-47ED-ADFD-82D5450C4055}"/>
                </a:ext>
              </a:extLst>
            </p:cNvPr>
            <p:cNvSpPr txBox="1"/>
            <p:nvPr/>
          </p:nvSpPr>
          <p:spPr>
            <a:xfrm>
              <a:off x="3744687" y="1576195"/>
              <a:ext cx="2541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n-lt"/>
                </a:rPr>
                <a:t>Euclidean Distance</a:t>
              </a:r>
              <a:endParaRPr lang="en-CH" dirty="0" err="1">
                <a:latin typeface="+mn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49FE26-CBCF-45CA-9D52-62EBB8FFB774}"/>
                </a:ext>
              </a:extLst>
            </p:cNvPr>
            <p:cNvSpPr txBox="1"/>
            <p:nvPr/>
          </p:nvSpPr>
          <p:spPr>
            <a:xfrm>
              <a:off x="3744687" y="3541722"/>
              <a:ext cx="3320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n-lt"/>
                </a:rPr>
                <a:t>Dynamic Time Warping</a:t>
              </a:r>
              <a:endParaRPr lang="en-CH" dirty="0" err="1">
                <a:latin typeface="+mn-lt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8B6C1FE-F888-4882-9F33-2A211FD7B5D9}"/>
              </a:ext>
            </a:extLst>
          </p:cNvPr>
          <p:cNvSpPr/>
          <p:nvPr/>
        </p:nvSpPr>
        <p:spPr>
          <a:xfrm>
            <a:off x="-1" y="4819279"/>
            <a:ext cx="91440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[</a:t>
            </a:r>
            <a:r>
              <a:rPr lang="en-US" sz="12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Image Credit: https://towardsdatascience.com/dynamic-time-warping-3933f25fcdd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03631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B3C0D1-A1C7-4FFD-A67C-511F22A093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0040" y="752636"/>
                <a:ext cx="8503920" cy="3717989"/>
              </a:xfrm>
            </p:spPr>
            <p:txBody>
              <a:bodyPr/>
              <a:lstStyle/>
              <a:p>
                <a:r>
                  <a:rPr lang="en-US" sz="2000" b="1" dirty="0"/>
                  <a:t>Goal</a:t>
                </a:r>
                <a:r>
                  <a:rPr lang="en-US" sz="2000" dirty="0"/>
                  <a:t>: minimize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endParaRPr lang="en-US" sz="2000" dirty="0"/>
              </a:p>
              <a:p>
                <a:pPr marL="358775" lvl="0" indent="-358775" eaLnBrk="0" hangingPunct="0">
                  <a:spcBef>
                    <a:spcPct val="0"/>
                  </a:spcBef>
                </a:pPr>
                <a:r>
                  <a:rPr lang="en-US" sz="2000" b="1" dirty="0"/>
                  <a:t>Rules </a:t>
                </a:r>
                <a:r>
                  <a:rPr lang="en-US" sz="2000" dirty="0"/>
                  <a:t>(given two sequences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000" dirty="0"/>
                  <a:t>): </a:t>
                </a:r>
              </a:p>
              <a:p>
                <a:pPr marL="628650" lvl="1" indent="-228600" eaLnBrk="0" hangingPunct="0">
                  <a:spcBef>
                    <a:spcPts val="600"/>
                  </a:spcBef>
                </a:pPr>
                <a:r>
                  <a:rPr lang="en-CH" altLang="en-CH" sz="1800" dirty="0">
                    <a:solidFill>
                      <a:srgbClr val="202122"/>
                    </a:solidFill>
                  </a:rPr>
                  <a:t>Every index 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 must be matched with one or more indices from </a:t>
                </a:r>
                <a14:m>
                  <m:oMath xmlns:m="http://schemas.openxmlformats.org/officeDocument/2006/math">
                    <m:r>
                      <a:rPr lang="en-US" altLang="en-CH" sz="1800" b="1" i="1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, and vice versa</a:t>
                </a:r>
                <a:endParaRPr lang="en-US" altLang="en-CH" sz="1800" dirty="0">
                  <a:solidFill>
                    <a:srgbClr val="202122"/>
                  </a:solidFill>
                </a:endParaRPr>
              </a:p>
              <a:p>
                <a:pPr marL="628650" lvl="1" indent="-228600" eaLnBrk="0" hangingPunct="0">
                  <a:spcBef>
                    <a:spcPts val="600"/>
                  </a:spcBef>
                </a:pPr>
                <a:r>
                  <a:rPr lang="en-CH" altLang="en-CH" sz="1800" dirty="0">
                    <a:solidFill>
                      <a:srgbClr val="202122"/>
                    </a:solidFill>
                  </a:rPr>
                  <a:t>The first index from </a:t>
                </a:r>
                <a14:m>
                  <m:oMath xmlns:m="http://schemas.openxmlformats.org/officeDocument/2006/math"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:r>
                  <a:rPr lang="en-CH" altLang="en-CH" sz="1800" dirty="0">
                    <a:solidFill>
                      <a:srgbClr val="202122"/>
                    </a:solidFill>
                  </a:rPr>
                  <a:t>must be matched with the first index from </a:t>
                </a:r>
                <a14:m>
                  <m:oMath xmlns:m="http://schemas.openxmlformats.org/officeDocument/2006/math">
                    <m:r>
                      <a:rPr lang="en-US" altLang="en-CH" sz="1800" b="1" i="1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CH" sz="1800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(but it does not have to be its only match)</a:t>
                </a:r>
                <a:endParaRPr lang="en-US" altLang="en-CH" sz="1800" dirty="0">
                  <a:solidFill>
                    <a:srgbClr val="202122"/>
                  </a:solidFill>
                </a:endParaRPr>
              </a:p>
              <a:p>
                <a:pPr marL="628650" lvl="1" indent="-228600" eaLnBrk="0" hangingPunct="0">
                  <a:spcBef>
                    <a:spcPts val="600"/>
                  </a:spcBef>
                </a:pPr>
                <a:r>
                  <a:rPr lang="en-CH" altLang="en-CH" sz="1800" dirty="0">
                    <a:solidFill>
                      <a:srgbClr val="202122"/>
                    </a:solidFill>
                  </a:rPr>
                  <a:t>The 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last</a:t>
                </a:r>
                <a:r>
                  <a:rPr lang="en-CH" altLang="en-CH" sz="1800" dirty="0">
                    <a:solidFill>
                      <a:srgbClr val="202122"/>
                    </a:solidFill>
                  </a:rPr>
                  <a:t> index from </a:t>
                </a:r>
                <a14:m>
                  <m:oMath xmlns:m="http://schemas.openxmlformats.org/officeDocument/2006/math"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:r>
                  <a:rPr lang="en-CH" altLang="en-CH" sz="1800" dirty="0">
                    <a:solidFill>
                      <a:srgbClr val="202122"/>
                    </a:solidFill>
                  </a:rPr>
                  <a:t>must be matched with the 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last</a:t>
                </a:r>
                <a:r>
                  <a:rPr lang="en-CH" altLang="en-CH" sz="1800" dirty="0">
                    <a:solidFill>
                      <a:srgbClr val="202122"/>
                    </a:solidFill>
                  </a:rPr>
                  <a:t> index from </a:t>
                </a:r>
                <a14:m>
                  <m:oMath xmlns:m="http://schemas.openxmlformats.org/officeDocument/2006/math">
                    <m:r>
                      <a:rPr lang="en-US" altLang="en-CH" sz="1800" b="1" i="1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CH" sz="1800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(but it does not have to be its only match)</a:t>
                </a:r>
                <a:endParaRPr lang="en-US" altLang="en-CH" sz="1800" dirty="0">
                  <a:solidFill>
                    <a:srgbClr val="202122"/>
                  </a:solidFill>
                </a:endParaRPr>
              </a:p>
              <a:p>
                <a:pPr marL="628650" lvl="1" indent="-228600" eaLnBrk="0" hangingPunct="0">
                  <a:spcBef>
                    <a:spcPts val="600"/>
                  </a:spcBef>
                </a:pPr>
                <a:r>
                  <a:rPr lang="en-CH" altLang="en-CH" sz="1800" dirty="0">
                    <a:solidFill>
                      <a:srgbClr val="202122"/>
                    </a:solidFill>
                  </a:rPr>
                  <a:t>The mapping of the indices from </a:t>
                </a:r>
                <a14:m>
                  <m:oMath xmlns:m="http://schemas.openxmlformats.org/officeDocument/2006/math"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to indices from </a:t>
                </a:r>
                <a14:m>
                  <m:oMath xmlns:m="http://schemas.openxmlformats.org/officeDocument/2006/math"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must be monotonically increasing, and vice versa, i.e. if </a:t>
                </a:r>
                <a14:m>
                  <m:oMath xmlns:m="http://schemas.openxmlformats.org/officeDocument/2006/math"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:r>
                  <a:rPr lang="en-CH" altLang="en-CH" sz="1800" dirty="0">
                    <a:solidFill>
                      <a:srgbClr val="202122"/>
                    </a:solidFill>
                  </a:rPr>
                  <a:t>are indices from</a:t>
                </a:r>
                <a14:m>
                  <m:oMath xmlns:m="http://schemas.openxmlformats.org/officeDocument/2006/math">
                    <m:r>
                      <a:rPr lang="en-US" altLang="en-CH" sz="180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, then there must not be two indices </a:t>
                </a:r>
                <a14:m>
                  <m:oMath xmlns:m="http://schemas.openxmlformats.org/officeDocument/2006/math"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 in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CH" sz="1800" b="1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, such that index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 is matched with index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 and index</a:t>
                </a:r>
                <a:r>
                  <a:rPr lang="en-US" altLang="en-CH" sz="18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is matched with index </a:t>
                </a:r>
                <a14:m>
                  <m:oMath xmlns:m="http://schemas.openxmlformats.org/officeDocument/2006/math">
                    <m:r>
                      <a:rPr lang="en-US" altLang="en-CH" sz="18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H" altLang="en-CH" sz="1800" dirty="0">
                    <a:solidFill>
                      <a:srgbClr val="202122"/>
                    </a:solidFill>
                  </a:rPr>
                  <a:t>, and vice versa</a:t>
                </a:r>
              </a:p>
              <a:p>
                <a:endParaRPr lang="en-CH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B3C0D1-A1C7-4FFD-A67C-511F22A09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040" y="752636"/>
                <a:ext cx="8503920" cy="3717989"/>
              </a:xfrm>
              <a:blipFill>
                <a:blip r:embed="rId3"/>
                <a:stretch>
                  <a:fillRect t="-9344" b="-1016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036E104-9567-4DEE-98EA-11DE7A88D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Rules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51050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764339"/>
              </p:ext>
            </p:extLst>
          </p:nvPr>
        </p:nvGraphicFramePr>
        <p:xfrm>
          <a:off x="553739" y="1961048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640828" y="1961048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1911608" y="3308577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7647" r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143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449048"/>
              </p:ext>
            </p:extLst>
          </p:nvPr>
        </p:nvGraphicFramePr>
        <p:xfrm>
          <a:off x="553739" y="1961048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640828" y="1961048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1911608" y="3308577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7647" r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262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75077"/>
              </p:ext>
            </p:extLst>
          </p:nvPr>
        </p:nvGraphicFramePr>
        <p:xfrm>
          <a:off x="553739" y="1961048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640828" y="1961048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1911608" y="3308577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7647" r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667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Possible Paths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831863"/>
              </p:ext>
            </p:extLst>
          </p:nvPr>
        </p:nvGraphicFramePr>
        <p:xfrm>
          <a:off x="553739" y="1961048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640828" y="1961048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1911608" y="3308577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blipFill>
                <a:blip r:embed="rId4"/>
                <a:stretch>
                  <a:fillRect l="-17647" r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B1348B-E3A7-4EB9-B2B4-31A53513BF94}"/>
              </a:ext>
            </a:extLst>
          </p:cNvPr>
          <p:cNvCxnSpPr/>
          <p:nvPr/>
        </p:nvCxnSpPr>
        <p:spPr bwMode="auto">
          <a:xfrm flipV="1">
            <a:off x="1295400" y="3412671"/>
            <a:ext cx="0" cy="3646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54F7EB-D32E-4D8A-B11E-C206D19C3C1D}"/>
              </a:ext>
            </a:extLst>
          </p:cNvPr>
          <p:cNvCxnSpPr/>
          <p:nvPr/>
        </p:nvCxnSpPr>
        <p:spPr bwMode="auto">
          <a:xfrm flipV="1">
            <a:off x="1289957" y="3450771"/>
            <a:ext cx="489857" cy="3374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C4F59E-A551-4FE0-9464-CCB0659CA071}"/>
              </a:ext>
            </a:extLst>
          </p:cNvPr>
          <p:cNvCxnSpPr/>
          <p:nvPr/>
        </p:nvCxnSpPr>
        <p:spPr bwMode="auto">
          <a:xfrm>
            <a:off x="1295400" y="3777343"/>
            <a:ext cx="50618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973707-3AF8-44BA-985D-877E695DA917}"/>
              </a:ext>
            </a:extLst>
          </p:cNvPr>
          <p:cNvSpPr txBox="1"/>
          <p:nvPr/>
        </p:nvSpPr>
        <p:spPr>
          <a:xfrm>
            <a:off x="3396343" y="1961048"/>
            <a:ext cx="5433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Three possible paths from each square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744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Possible Paths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/>
        </p:nvGraphicFramePr>
        <p:xfrm>
          <a:off x="553739" y="1961048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640828" y="1961048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1911608" y="3308577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7647" r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B1348B-E3A7-4EB9-B2B4-31A53513BF94}"/>
              </a:ext>
            </a:extLst>
          </p:cNvPr>
          <p:cNvCxnSpPr/>
          <p:nvPr/>
        </p:nvCxnSpPr>
        <p:spPr bwMode="auto">
          <a:xfrm flipV="1">
            <a:off x="1295400" y="3412671"/>
            <a:ext cx="0" cy="3646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54F7EB-D32E-4D8A-B11E-C206D19C3C1D}"/>
              </a:ext>
            </a:extLst>
          </p:cNvPr>
          <p:cNvCxnSpPr/>
          <p:nvPr/>
        </p:nvCxnSpPr>
        <p:spPr bwMode="auto">
          <a:xfrm flipV="1">
            <a:off x="1289957" y="3450771"/>
            <a:ext cx="489857" cy="3374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C4F59E-A551-4FE0-9464-CCB0659CA071}"/>
              </a:ext>
            </a:extLst>
          </p:cNvPr>
          <p:cNvCxnSpPr/>
          <p:nvPr/>
        </p:nvCxnSpPr>
        <p:spPr bwMode="auto">
          <a:xfrm>
            <a:off x="1295400" y="3777343"/>
            <a:ext cx="50618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973707-3AF8-44BA-985D-877E695DA917}"/>
                  </a:ext>
                </a:extLst>
              </p:cNvPr>
              <p:cNvSpPr txBox="1"/>
              <p:nvPr/>
            </p:nvSpPr>
            <p:spPr>
              <a:xfrm>
                <a:off x="3396343" y="1961048"/>
                <a:ext cx="543310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n-lt"/>
                  </a:rPr>
                  <a:t>Three possible paths from each square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n-lt"/>
                  </a:rPr>
                  <a:t>Every choice leads to three more possible paths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4∙6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options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973707-3AF8-44BA-985D-877E695DA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43" y="1961048"/>
                <a:ext cx="5433103" cy="1938992"/>
              </a:xfrm>
              <a:prstGeom prst="rect">
                <a:avLst/>
              </a:prstGeom>
              <a:blipFill>
                <a:blip r:embed="rId7"/>
                <a:stretch>
                  <a:fillRect l="-1459" t="-251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725C0F-949A-47F5-91DC-B03C8327828D}"/>
              </a:ext>
            </a:extLst>
          </p:cNvPr>
          <p:cNvCxnSpPr/>
          <p:nvPr/>
        </p:nvCxnSpPr>
        <p:spPr bwMode="auto">
          <a:xfrm flipV="1">
            <a:off x="1817917" y="3037009"/>
            <a:ext cx="0" cy="3646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79F6AF-038F-4E77-8D2E-91E0675FC35D}"/>
              </a:ext>
            </a:extLst>
          </p:cNvPr>
          <p:cNvCxnSpPr/>
          <p:nvPr/>
        </p:nvCxnSpPr>
        <p:spPr bwMode="auto">
          <a:xfrm flipV="1">
            <a:off x="1812474" y="3075109"/>
            <a:ext cx="489857" cy="3374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D2DA48-9BB3-4043-98C9-166F6DCC94EE}"/>
              </a:ext>
            </a:extLst>
          </p:cNvPr>
          <p:cNvCxnSpPr/>
          <p:nvPr/>
        </p:nvCxnSpPr>
        <p:spPr bwMode="auto">
          <a:xfrm>
            <a:off x="1817917" y="3401681"/>
            <a:ext cx="50618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5251E27-6CD7-460C-B938-ED6CC74F4490}"/>
              </a:ext>
            </a:extLst>
          </p:cNvPr>
          <p:cNvSpPr/>
          <p:nvPr/>
        </p:nvSpPr>
        <p:spPr bwMode="auto">
          <a:xfrm>
            <a:off x="3461656" y="3157138"/>
            <a:ext cx="276836" cy="255429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192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Minimum Path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136931"/>
              </p:ext>
            </p:extLst>
          </p:nvPr>
        </p:nvGraphicFramePr>
        <p:xfrm>
          <a:off x="553739" y="1961048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640828" y="1961048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1911608" y="3308577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88" y="4372614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7647" r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53" y="2772414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973707-3AF8-44BA-985D-877E695DA917}"/>
                  </a:ext>
                </a:extLst>
              </p:cNvPr>
              <p:cNvSpPr txBox="1"/>
              <p:nvPr/>
            </p:nvSpPr>
            <p:spPr>
              <a:xfrm>
                <a:off x="3396343" y="1956806"/>
                <a:ext cx="5433103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n-lt"/>
                  </a:rPr>
                  <a:t>For any cell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+mn-lt"/>
                  </a:rPr>
                  <a:t> (matching indices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200" dirty="0">
                    <a:latin typeface="+mn-lt"/>
                  </a:rPr>
                  <a:t>): three possible precursor cells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+mn-lt"/>
                  </a:rPr>
                  <a:t>Minimum cost (distance) for getting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200" dirty="0">
                  <a:latin typeface="+mn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H" sz="22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973707-3AF8-44BA-985D-877E695DA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43" y="1956806"/>
                <a:ext cx="5433103" cy="1446550"/>
              </a:xfrm>
              <a:prstGeom prst="rect">
                <a:avLst/>
              </a:prstGeom>
              <a:blipFill>
                <a:blip r:embed="rId7"/>
                <a:stretch>
                  <a:fillRect l="-1235" t="-2954" r="-1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725C0F-949A-47F5-91DC-B03C8327828D}"/>
              </a:ext>
            </a:extLst>
          </p:cNvPr>
          <p:cNvCxnSpPr/>
          <p:nvPr/>
        </p:nvCxnSpPr>
        <p:spPr bwMode="auto">
          <a:xfrm flipV="1">
            <a:off x="2302331" y="3096880"/>
            <a:ext cx="0" cy="3646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79F6AF-038F-4E77-8D2E-91E0675FC35D}"/>
              </a:ext>
            </a:extLst>
          </p:cNvPr>
          <p:cNvCxnSpPr/>
          <p:nvPr/>
        </p:nvCxnSpPr>
        <p:spPr bwMode="auto">
          <a:xfrm flipV="1">
            <a:off x="1790702" y="3107767"/>
            <a:ext cx="489857" cy="3374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D2DA48-9BB3-4043-98C9-166F6DCC94EE}"/>
              </a:ext>
            </a:extLst>
          </p:cNvPr>
          <p:cNvCxnSpPr/>
          <p:nvPr/>
        </p:nvCxnSpPr>
        <p:spPr bwMode="auto">
          <a:xfrm>
            <a:off x="1776022" y="3075109"/>
            <a:ext cx="50618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4F5C4D-8F1C-414F-8847-4FA604198104}"/>
                  </a:ext>
                </a:extLst>
              </p:cNvPr>
              <p:cNvSpPr txBox="1"/>
              <p:nvPr/>
            </p:nvSpPr>
            <p:spPr>
              <a:xfrm>
                <a:off x="3584122" y="3264856"/>
                <a:ext cx="5184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)+ 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18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4F5C4D-8F1C-414F-8847-4FA604198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122" y="3264856"/>
                <a:ext cx="5184321" cy="276999"/>
              </a:xfrm>
              <a:prstGeom prst="rect">
                <a:avLst/>
              </a:prstGeom>
              <a:blipFill>
                <a:blip r:embed="rId8"/>
                <a:stretch>
                  <a:fillRect l="-588" t="-4444" r="-1176" b="-355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90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/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597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4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083366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4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914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07680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511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9917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754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/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?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167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165193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870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876803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?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041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731271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898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47707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?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594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811825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703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988875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1FC57B2-2631-450E-96FF-0756A267ED18}"/>
              </a:ext>
            </a:extLst>
          </p:cNvPr>
          <p:cNvSpPr txBox="1"/>
          <p:nvPr/>
        </p:nvSpPr>
        <p:spPr>
          <a:xfrm>
            <a:off x="8022524" y="1371915"/>
            <a:ext cx="78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Goal</a:t>
            </a:r>
            <a:endParaRPr lang="en-CH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8811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858113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2EC8440-62CB-4B43-81C2-B9AD444714FA}"/>
              </a:ext>
            </a:extLst>
          </p:cNvPr>
          <p:cNvSpPr txBox="1"/>
          <p:nvPr/>
        </p:nvSpPr>
        <p:spPr>
          <a:xfrm>
            <a:off x="8022524" y="1371915"/>
            <a:ext cx="78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Goal</a:t>
            </a:r>
            <a:endParaRPr lang="en-CH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7374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081009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DD8DB0E-68EA-41FA-AB00-D07604386549}"/>
              </a:ext>
            </a:extLst>
          </p:cNvPr>
          <p:cNvSpPr txBox="1"/>
          <p:nvPr/>
        </p:nvSpPr>
        <p:spPr>
          <a:xfrm>
            <a:off x="8022524" y="1371915"/>
            <a:ext cx="78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Goal</a:t>
            </a:r>
            <a:endParaRPr lang="en-CH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0183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6231A6-6D0A-40A5-A3EE-22B94D2AE1E0}"/>
                  </a:ext>
                </a:extLst>
              </p:cNvPr>
              <p:cNvSpPr txBox="1"/>
              <p:nvPr/>
            </p:nvSpPr>
            <p:spPr>
              <a:xfrm>
                <a:off x="1645921" y="2096323"/>
                <a:ext cx="14503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1,2,3,5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6231A6-6D0A-40A5-A3EE-22B94D2AE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1" y="2096323"/>
                <a:ext cx="1450397" cy="307777"/>
              </a:xfrm>
              <a:prstGeom prst="rect">
                <a:avLst/>
              </a:prstGeom>
              <a:blipFill>
                <a:blip r:embed="rId3"/>
                <a:stretch>
                  <a:fillRect l="-168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46168D-D095-4E2D-A26D-4C8500976D0F}"/>
                  </a:ext>
                </a:extLst>
              </p:cNvPr>
              <p:cNvSpPr txBox="1"/>
              <p:nvPr/>
            </p:nvSpPr>
            <p:spPr>
              <a:xfrm>
                <a:off x="1645921" y="3012358"/>
                <a:ext cx="18360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=[2,2,2,4,4,3]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46168D-D095-4E2D-A26D-4C8500976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1" y="3012358"/>
                <a:ext cx="1836080" cy="307777"/>
              </a:xfrm>
              <a:prstGeom prst="rect">
                <a:avLst/>
              </a:prstGeom>
              <a:blipFill>
                <a:blip r:embed="rId4"/>
                <a:stretch>
                  <a:fillRect l="-2990" t="-1961" r="-4983" b="-3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397241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17D638-96E2-41B1-8052-B06BD7044C8A}"/>
              </a:ext>
            </a:extLst>
          </p:cNvPr>
          <p:cNvCxnSpPr>
            <a:cxnSpLocks/>
          </p:cNvCxnSpPr>
          <p:nvPr/>
        </p:nvCxnSpPr>
        <p:spPr bwMode="auto">
          <a:xfrm flipH="1">
            <a:off x="2322134" y="2406972"/>
            <a:ext cx="1" cy="6082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E37A84-0FC3-48E5-8CDE-CCE1900D8429}"/>
              </a:ext>
            </a:extLst>
          </p:cNvPr>
          <p:cNvCxnSpPr>
            <a:cxnSpLocks/>
          </p:cNvCxnSpPr>
          <p:nvPr/>
        </p:nvCxnSpPr>
        <p:spPr bwMode="auto">
          <a:xfrm flipH="1">
            <a:off x="2485307" y="2406972"/>
            <a:ext cx="1" cy="6082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AAAA70-C53C-4A2D-92E0-FDCECAFDD80A}"/>
              </a:ext>
            </a:extLst>
          </p:cNvPr>
          <p:cNvCxnSpPr>
            <a:cxnSpLocks/>
          </p:cNvCxnSpPr>
          <p:nvPr/>
        </p:nvCxnSpPr>
        <p:spPr bwMode="auto">
          <a:xfrm>
            <a:off x="2485306" y="2406972"/>
            <a:ext cx="202825" cy="602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FE5B2F-F195-4965-AE90-775E65A31240}"/>
              </a:ext>
            </a:extLst>
          </p:cNvPr>
          <p:cNvCxnSpPr>
            <a:cxnSpLocks/>
          </p:cNvCxnSpPr>
          <p:nvPr/>
        </p:nvCxnSpPr>
        <p:spPr bwMode="auto">
          <a:xfrm>
            <a:off x="2709166" y="2406972"/>
            <a:ext cx="142137" cy="602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D9035A-5AF2-4405-8553-BAC5F4F0600A}"/>
              </a:ext>
            </a:extLst>
          </p:cNvPr>
          <p:cNvCxnSpPr>
            <a:cxnSpLocks/>
          </p:cNvCxnSpPr>
          <p:nvPr/>
        </p:nvCxnSpPr>
        <p:spPr bwMode="auto">
          <a:xfrm>
            <a:off x="2704705" y="2406972"/>
            <a:ext cx="375039" cy="6058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83383A8-335F-4591-9516-F6505500BA81}"/>
              </a:ext>
            </a:extLst>
          </p:cNvPr>
          <p:cNvCxnSpPr>
            <a:cxnSpLocks/>
          </p:cNvCxnSpPr>
          <p:nvPr/>
        </p:nvCxnSpPr>
        <p:spPr bwMode="auto">
          <a:xfrm>
            <a:off x="2919440" y="2406972"/>
            <a:ext cx="375039" cy="6058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73E2DE7-F5CA-475C-9D2E-71A387840ADC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1F912CA-DC99-4B8F-8C4F-667ED49574CB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8188463-3F47-4154-B5EF-AFA687202C6A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716FD822-7688-47E0-BC3E-A0E36F928553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716FD822-7688-47E0-BC3E-A0E36F9285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296A06D4-C4FD-4274-937A-6BCD1D0A528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296A06D4-C4FD-4274-937A-6BCD1D0A52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3602629-7E38-4269-B5EF-D5A898CC6FC7}"/>
              </a:ext>
            </a:extLst>
          </p:cNvPr>
          <p:cNvSpPr txBox="1"/>
          <p:nvPr/>
        </p:nvSpPr>
        <p:spPr>
          <a:xfrm>
            <a:off x="8022524" y="1371915"/>
            <a:ext cx="78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Goal</a:t>
            </a:r>
            <a:endParaRPr lang="en-CH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1408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331608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764249-7994-463E-88A0-BFDBAB48F3AC}"/>
                  </a:ext>
                </a:extLst>
              </p:cNvPr>
              <p:cNvSpPr txBox="1"/>
              <p:nvPr/>
            </p:nvSpPr>
            <p:spPr>
              <a:xfrm>
                <a:off x="1645921" y="2096323"/>
                <a:ext cx="14503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1,2,3,5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764249-7994-463E-88A0-BFDBAB48F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1" y="2096323"/>
                <a:ext cx="1450397" cy="307777"/>
              </a:xfrm>
              <a:prstGeom prst="rect">
                <a:avLst/>
              </a:prstGeom>
              <a:blipFill>
                <a:blip r:embed="rId7"/>
                <a:stretch>
                  <a:fillRect l="-168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1709AC-CBEF-4A6B-A50C-6C731AF98B7C}"/>
                  </a:ext>
                </a:extLst>
              </p:cNvPr>
              <p:cNvSpPr txBox="1"/>
              <p:nvPr/>
            </p:nvSpPr>
            <p:spPr>
              <a:xfrm>
                <a:off x="1645921" y="3012358"/>
                <a:ext cx="18360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=[2,2,2,4,4,3]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1709AC-CBEF-4A6B-A50C-6C731AF98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1" y="3012358"/>
                <a:ext cx="1836080" cy="307777"/>
              </a:xfrm>
              <a:prstGeom prst="rect">
                <a:avLst/>
              </a:prstGeom>
              <a:blipFill>
                <a:blip r:embed="rId4"/>
                <a:stretch>
                  <a:fillRect l="-2990" t="-1961" r="-4983" b="-3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2C2FD9-37EA-43E6-8622-4BDB0365DAF7}"/>
              </a:ext>
            </a:extLst>
          </p:cNvPr>
          <p:cNvCxnSpPr>
            <a:cxnSpLocks/>
          </p:cNvCxnSpPr>
          <p:nvPr/>
        </p:nvCxnSpPr>
        <p:spPr bwMode="auto">
          <a:xfrm flipH="1">
            <a:off x="2322134" y="2406972"/>
            <a:ext cx="1" cy="6082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9E424D-BCBF-42DA-B322-3CE23DFEE22A}"/>
              </a:ext>
            </a:extLst>
          </p:cNvPr>
          <p:cNvCxnSpPr>
            <a:cxnSpLocks/>
          </p:cNvCxnSpPr>
          <p:nvPr/>
        </p:nvCxnSpPr>
        <p:spPr bwMode="auto">
          <a:xfrm flipH="1">
            <a:off x="2485307" y="2406972"/>
            <a:ext cx="1" cy="6082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75C179-4602-4CC6-8E44-91E80829F420}"/>
              </a:ext>
            </a:extLst>
          </p:cNvPr>
          <p:cNvCxnSpPr>
            <a:cxnSpLocks/>
          </p:cNvCxnSpPr>
          <p:nvPr/>
        </p:nvCxnSpPr>
        <p:spPr bwMode="auto">
          <a:xfrm>
            <a:off x="2485306" y="2406972"/>
            <a:ext cx="202825" cy="602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9B9DDA-72F7-4E65-A90E-E05D6BB282EE}"/>
              </a:ext>
            </a:extLst>
          </p:cNvPr>
          <p:cNvCxnSpPr>
            <a:cxnSpLocks/>
          </p:cNvCxnSpPr>
          <p:nvPr/>
        </p:nvCxnSpPr>
        <p:spPr bwMode="auto">
          <a:xfrm>
            <a:off x="2709166" y="2406972"/>
            <a:ext cx="142137" cy="602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079387-70B7-43AF-998C-9CA7B4A19FEF}"/>
              </a:ext>
            </a:extLst>
          </p:cNvPr>
          <p:cNvCxnSpPr>
            <a:cxnSpLocks/>
          </p:cNvCxnSpPr>
          <p:nvPr/>
        </p:nvCxnSpPr>
        <p:spPr bwMode="auto">
          <a:xfrm>
            <a:off x="2919440" y="2404100"/>
            <a:ext cx="160304" cy="60868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A325D5-D10D-44D6-A149-0707AB0B7BD5}"/>
              </a:ext>
            </a:extLst>
          </p:cNvPr>
          <p:cNvCxnSpPr>
            <a:cxnSpLocks/>
          </p:cNvCxnSpPr>
          <p:nvPr/>
        </p:nvCxnSpPr>
        <p:spPr bwMode="auto">
          <a:xfrm>
            <a:off x="2919440" y="2406972"/>
            <a:ext cx="375039" cy="6058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E1E4652-4438-4EE8-84AC-9914B0F6CF40}"/>
              </a:ext>
            </a:extLst>
          </p:cNvPr>
          <p:cNvSpPr txBox="1"/>
          <p:nvPr/>
        </p:nvSpPr>
        <p:spPr>
          <a:xfrm>
            <a:off x="8022524" y="1371915"/>
            <a:ext cx="78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Goal</a:t>
            </a:r>
            <a:endParaRPr lang="en-CH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3791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F11FCF-6424-4B7E-B1A7-9EEE29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Example</a:t>
            </a:r>
            <a:endParaRPr lang="en-CH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598897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9524A0-495B-4259-A74D-EB1E198CA8C1}"/>
                  </a:ext>
                </a:extLst>
              </p:cNvPr>
              <p:cNvSpPr txBox="1"/>
              <p:nvPr/>
            </p:nvSpPr>
            <p:spPr>
              <a:xfrm>
                <a:off x="1645921" y="2096323"/>
                <a:ext cx="14503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1,2,3,5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9524A0-495B-4259-A74D-EB1E198CA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1" y="2096323"/>
                <a:ext cx="1450397" cy="307777"/>
              </a:xfrm>
              <a:prstGeom prst="rect">
                <a:avLst/>
              </a:prstGeom>
              <a:blipFill>
                <a:blip r:embed="rId7"/>
                <a:stretch>
                  <a:fillRect l="-168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4D0FEA-7A3A-43C3-BFB2-64EAA3BD8FCE}"/>
                  </a:ext>
                </a:extLst>
              </p:cNvPr>
              <p:cNvSpPr txBox="1"/>
              <p:nvPr/>
            </p:nvSpPr>
            <p:spPr>
              <a:xfrm>
                <a:off x="1645921" y="3012358"/>
                <a:ext cx="18360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=[2,2,2,4,4,3]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4D0FEA-7A3A-43C3-BFB2-64EAA3BD8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1" y="3012358"/>
                <a:ext cx="1836080" cy="307777"/>
              </a:xfrm>
              <a:prstGeom prst="rect">
                <a:avLst/>
              </a:prstGeom>
              <a:blipFill>
                <a:blip r:embed="rId4"/>
                <a:stretch>
                  <a:fillRect l="-2990" t="-1961" r="-4983" b="-3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64EA82-4EDC-4A71-AFEF-CF2A46CFC808}"/>
              </a:ext>
            </a:extLst>
          </p:cNvPr>
          <p:cNvCxnSpPr>
            <a:cxnSpLocks/>
          </p:cNvCxnSpPr>
          <p:nvPr/>
        </p:nvCxnSpPr>
        <p:spPr bwMode="auto">
          <a:xfrm flipH="1">
            <a:off x="2322134" y="2406972"/>
            <a:ext cx="1" cy="6082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5C142A-55D8-42A2-BC98-0843B4E7AB98}"/>
              </a:ext>
            </a:extLst>
          </p:cNvPr>
          <p:cNvCxnSpPr>
            <a:cxnSpLocks/>
          </p:cNvCxnSpPr>
          <p:nvPr/>
        </p:nvCxnSpPr>
        <p:spPr bwMode="auto">
          <a:xfrm flipH="1">
            <a:off x="2485307" y="2406972"/>
            <a:ext cx="1" cy="60825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D2AFDD-1549-423E-B9AB-51A8DF7FE82E}"/>
              </a:ext>
            </a:extLst>
          </p:cNvPr>
          <p:cNvCxnSpPr>
            <a:cxnSpLocks/>
          </p:cNvCxnSpPr>
          <p:nvPr/>
        </p:nvCxnSpPr>
        <p:spPr bwMode="auto">
          <a:xfrm>
            <a:off x="2485306" y="2406972"/>
            <a:ext cx="202825" cy="602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9744429-AC64-455D-99C4-FA8274470B57}"/>
              </a:ext>
            </a:extLst>
          </p:cNvPr>
          <p:cNvCxnSpPr>
            <a:cxnSpLocks/>
          </p:cNvCxnSpPr>
          <p:nvPr/>
        </p:nvCxnSpPr>
        <p:spPr bwMode="auto">
          <a:xfrm>
            <a:off x="2709166" y="2406972"/>
            <a:ext cx="142137" cy="6025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FDE063-86A4-46FB-BED9-865C78EDB717}"/>
              </a:ext>
            </a:extLst>
          </p:cNvPr>
          <p:cNvCxnSpPr>
            <a:cxnSpLocks/>
          </p:cNvCxnSpPr>
          <p:nvPr/>
        </p:nvCxnSpPr>
        <p:spPr bwMode="auto">
          <a:xfrm>
            <a:off x="2919440" y="2404100"/>
            <a:ext cx="160304" cy="60868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557F56-FF46-4F7D-9321-DCE4DC7A9648}"/>
              </a:ext>
            </a:extLst>
          </p:cNvPr>
          <p:cNvCxnSpPr>
            <a:cxnSpLocks/>
          </p:cNvCxnSpPr>
          <p:nvPr/>
        </p:nvCxnSpPr>
        <p:spPr bwMode="auto">
          <a:xfrm>
            <a:off x="2919440" y="2406972"/>
            <a:ext cx="375039" cy="6058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236C20-112D-4173-859E-4BC92766780E}"/>
              </a:ext>
            </a:extLst>
          </p:cNvPr>
          <p:cNvCxnSpPr>
            <a:cxnSpLocks/>
          </p:cNvCxnSpPr>
          <p:nvPr/>
        </p:nvCxnSpPr>
        <p:spPr bwMode="auto">
          <a:xfrm flipH="1">
            <a:off x="2322131" y="2404100"/>
            <a:ext cx="146603" cy="60538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C47E05A-8365-478F-BED3-580022EF28ED}"/>
              </a:ext>
            </a:extLst>
          </p:cNvPr>
          <p:cNvSpPr txBox="1"/>
          <p:nvPr/>
        </p:nvSpPr>
        <p:spPr>
          <a:xfrm>
            <a:off x="8022524" y="1371915"/>
            <a:ext cx="78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Goal</a:t>
            </a:r>
            <a:endParaRPr lang="en-CH" sz="20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84621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0AF84F-70EE-48A2-9F4D-CDBC20F4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877825"/>
            <a:ext cx="8503920" cy="1130589"/>
          </a:xfrm>
        </p:spPr>
        <p:txBody>
          <a:bodyPr/>
          <a:lstStyle/>
          <a:p>
            <a:r>
              <a:rPr lang="en-US" dirty="0"/>
              <a:t>Sometimes, we might want to constrain the mapping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30BBED-B209-4263-982D-163D5D81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Window</a:t>
            </a:r>
            <a:endParaRPr lang="en-CH" dirty="0"/>
          </a:p>
        </p:txBody>
      </p:sp>
      <p:pic>
        <p:nvPicPr>
          <p:cNvPr id="5" name="Google Shape;309;p56">
            <a:extLst>
              <a:ext uri="{FF2B5EF4-FFF2-40B4-BE49-F238E27FC236}">
                <a16:creationId xmlns:a16="http://schemas.microsoft.com/office/drawing/2014/main" id="{8D9E1229-0828-4D84-B692-0350D1425D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494" t="29504" r="59931" b="52907"/>
          <a:stretch/>
        </p:blipFill>
        <p:spPr>
          <a:xfrm>
            <a:off x="859970" y="1730122"/>
            <a:ext cx="2558143" cy="150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9;p56">
            <a:extLst>
              <a:ext uri="{FF2B5EF4-FFF2-40B4-BE49-F238E27FC236}">
                <a16:creationId xmlns:a16="http://schemas.microsoft.com/office/drawing/2014/main" id="{C9F601A4-0329-4D3B-A610-769322BE91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0912" t="3714" r="20635" b="78501"/>
          <a:stretch/>
        </p:blipFill>
        <p:spPr>
          <a:xfrm>
            <a:off x="3560172" y="1730122"/>
            <a:ext cx="2558144" cy="1529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9065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50AF84F-70EE-48A2-9F4D-CDBC20F423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0040" y="877825"/>
                <a:ext cx="8503920" cy="1130589"/>
              </a:xfrm>
            </p:spPr>
            <p:txBody>
              <a:bodyPr/>
              <a:lstStyle/>
              <a:p>
                <a:r>
                  <a:rPr lang="en-US" dirty="0"/>
                  <a:t>Sometimes, we might want to constrain the mapping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1400" dirty="0"/>
              </a:p>
              <a:p>
                <a:r>
                  <a:rPr lang="en-US" dirty="0"/>
                  <a:t>We introduce an </a:t>
                </a:r>
                <a:r>
                  <a:rPr lang="en-US" dirty="0">
                    <a:solidFill>
                      <a:srgbClr val="0070C0"/>
                    </a:solidFill>
                  </a:rPr>
                  <a:t>window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: an element in sequence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dirty="0"/>
                  <a:t>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can only be mapped to elements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in sequence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50AF84F-70EE-48A2-9F4D-CDBC20F42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040" y="877825"/>
                <a:ext cx="8503920" cy="1130589"/>
              </a:xfrm>
              <a:blipFill>
                <a:blip r:embed="rId3"/>
                <a:stretch>
                  <a:fillRect l="-430" b="-2535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530BBED-B209-4263-982D-163D5D81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Time Warping: Window</a:t>
            </a:r>
            <a:endParaRPr lang="en-CH" dirty="0"/>
          </a:p>
        </p:txBody>
      </p:sp>
      <p:pic>
        <p:nvPicPr>
          <p:cNvPr id="5" name="Google Shape;309;p56">
            <a:extLst>
              <a:ext uri="{FF2B5EF4-FFF2-40B4-BE49-F238E27FC236}">
                <a16:creationId xmlns:a16="http://schemas.microsoft.com/office/drawing/2014/main" id="{8D9E1229-0828-4D84-B692-0350D1425D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1494" t="29504" r="59931" b="52907"/>
          <a:stretch/>
        </p:blipFill>
        <p:spPr>
          <a:xfrm>
            <a:off x="859970" y="1730122"/>
            <a:ext cx="2558143" cy="150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9;p56">
            <a:extLst>
              <a:ext uri="{FF2B5EF4-FFF2-40B4-BE49-F238E27FC236}">
                <a16:creationId xmlns:a16="http://schemas.microsoft.com/office/drawing/2014/main" id="{C9F601A4-0329-4D3B-A610-769322BE91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0912" t="3714" r="20635" b="78501"/>
          <a:stretch/>
        </p:blipFill>
        <p:spPr>
          <a:xfrm>
            <a:off x="3560172" y="1730122"/>
            <a:ext cx="2558144" cy="1529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50753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Dynamic Time Warping: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9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974564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5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044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Dynamic Time Warping: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69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96040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1299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Dynamic Time Warping: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69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837427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316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Dynamic Time Warping: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69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677157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784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Dynamic Time Warping: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CH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C2F11FCF-6424-4B7E-B1A7-9EEE29F25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69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C293F68-676A-41D0-80EA-18578BCAB695}"/>
              </a:ext>
            </a:extLst>
          </p:cNvPr>
          <p:cNvGrpSpPr/>
          <p:nvPr/>
        </p:nvGrpSpPr>
        <p:grpSpPr>
          <a:xfrm>
            <a:off x="2373087" y="984875"/>
            <a:ext cx="3852282" cy="372429"/>
            <a:chOff x="1562101" y="931154"/>
            <a:chExt cx="3852282" cy="3724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D9169E-0AA3-41B1-9F84-CF0F5B703D86}"/>
                </a:ext>
              </a:extLst>
            </p:cNvPr>
            <p:cNvSpPr/>
            <p:nvPr/>
          </p:nvSpPr>
          <p:spPr bwMode="auto">
            <a:xfrm>
              <a:off x="1562101" y="931154"/>
              <a:ext cx="3852282" cy="372429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rgbClr val="0070C0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CH">
                <a:solidFill>
                  <a:srgbClr val="566B73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03066BE-B850-406A-ACF2-C6DAAF99EAD2}"/>
                </a:ext>
              </a:extLst>
            </p:cNvPr>
            <p:cNvGrpSpPr/>
            <p:nvPr/>
          </p:nvGrpSpPr>
          <p:grpSpPr>
            <a:xfrm>
              <a:off x="1697100" y="981245"/>
              <a:ext cx="3582284" cy="307778"/>
              <a:chOff x="1683586" y="981245"/>
              <a:chExt cx="3582284" cy="307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/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1,2,3,5</m:t>
                              </m:r>
                            </m:e>
                          </m:d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56231A6-6D0A-40A5-A3EE-22B94D2AE1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3586" y="981245"/>
                    <a:ext cx="1450397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81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=[2,2,2,4,4,3]</m:t>
                          </m:r>
                        </m:oMath>
                      </m:oMathPara>
                    </a14:m>
                    <a:endParaRPr lang="en-US" sz="2000" b="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246168D-D095-4E2D-A26D-4C8500976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9790" y="981246"/>
                    <a:ext cx="183608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90" t="-2000" r="-4983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855BEF-82D4-464E-9927-D11D52440147}"/>
              </a:ext>
            </a:extLst>
          </p:cNvPr>
          <p:cNvGraphicFramePr>
            <a:graphicFrameLocks noGrp="1"/>
          </p:cNvGraphicFramePr>
          <p:nvPr/>
        </p:nvGraphicFramePr>
        <p:xfrm>
          <a:off x="640825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2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A441F5E1-D5AF-4362-A30D-3B1B462543BD}"/>
              </a:ext>
            </a:extLst>
          </p:cNvPr>
          <p:cNvSpPr/>
          <p:nvPr/>
        </p:nvSpPr>
        <p:spPr bwMode="auto">
          <a:xfrm>
            <a:off x="727914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AFAF312-8E1A-4E72-BDCA-BA52957979EB}"/>
              </a:ext>
            </a:extLst>
          </p:cNvPr>
          <p:cNvSpPr/>
          <p:nvPr/>
        </p:nvSpPr>
        <p:spPr bwMode="auto">
          <a:xfrm rot="16200000">
            <a:off x="1998694" y="3014662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/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58C653-A109-4CCD-BFDA-FFAFF3858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774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/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E14707-F6C9-4B16-BBC2-09CE68EE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39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DDE0D3-D948-402E-BBFB-C02C5C7B1943}"/>
              </a:ext>
            </a:extLst>
          </p:cNvPr>
          <p:cNvSpPr txBox="1"/>
          <p:nvPr/>
        </p:nvSpPr>
        <p:spPr>
          <a:xfrm>
            <a:off x="443282" y="4339632"/>
            <a:ext cx="343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1. Compute pairwise distances</a:t>
            </a:r>
            <a:endParaRPr lang="en-CH" sz="2000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0AF86-1FA7-41F0-9B54-30C04A21A9E6}"/>
              </a:ext>
            </a:extLst>
          </p:cNvPr>
          <p:cNvSpPr txBox="1"/>
          <p:nvPr/>
        </p:nvSpPr>
        <p:spPr>
          <a:xfrm>
            <a:off x="4912266" y="4319535"/>
            <a:ext cx="3938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2. Compute minimum distance path</a:t>
            </a:r>
            <a:endParaRPr lang="en-CH" sz="2000" dirty="0" err="1">
              <a:latin typeface="+mn-l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6CA355-4A39-452A-BA60-F9FE64474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596524"/>
              </p:ext>
            </p:extLst>
          </p:nvPr>
        </p:nvGraphicFramePr>
        <p:xfrm>
          <a:off x="5561168" y="1667134"/>
          <a:ext cx="2481155" cy="2322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96231">
                  <a:extLst>
                    <a:ext uri="{9D8B030D-6E8A-4147-A177-3AD203B41FA5}">
                      <a16:colId xmlns:a16="http://schemas.microsoft.com/office/drawing/2014/main" val="3446054809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70349436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2585417024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510321722"/>
                    </a:ext>
                  </a:extLst>
                </a:gridCol>
                <a:gridCol w="496231">
                  <a:extLst>
                    <a:ext uri="{9D8B030D-6E8A-4147-A177-3AD203B41FA5}">
                      <a16:colId xmlns:a16="http://schemas.microsoft.com/office/drawing/2014/main" val="1272223899"/>
                    </a:ext>
                  </a:extLst>
                </a:gridCol>
              </a:tblGrid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/>
                        <a:t>3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-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5</a:t>
                      </a:r>
                      <a:endParaRPr lang="en-CH" sz="1600" b="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419452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047653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13352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256475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79437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22538"/>
                  </a:ext>
                </a:extLst>
              </a:tr>
              <a:tr h="328811">
                <a:tc>
                  <a:txBody>
                    <a:bodyPr/>
                    <a:lstStyle/>
                    <a:p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CH" sz="1600" dirty="0"/>
                    </a:p>
                  </a:txBody>
                  <a:tcPr marL="87886" marR="87886" marT="43942" marB="4394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6927084"/>
                  </a:ext>
                </a:extLst>
              </a:tr>
            </a:tbl>
          </a:graphicData>
        </a:graphic>
      </p:graphicFrame>
      <p:sp>
        <p:nvSpPr>
          <p:cNvPr id="15" name="Left Brace 14">
            <a:extLst>
              <a:ext uri="{FF2B5EF4-FFF2-40B4-BE49-F238E27FC236}">
                <a16:creationId xmlns:a16="http://schemas.microsoft.com/office/drawing/2014/main" id="{9CE30DF0-1B9B-49C0-A8AA-8EED4EE07C93}"/>
              </a:ext>
            </a:extLst>
          </p:cNvPr>
          <p:cNvSpPr/>
          <p:nvPr/>
        </p:nvSpPr>
        <p:spPr bwMode="auto">
          <a:xfrm>
            <a:off x="5648257" y="1667134"/>
            <a:ext cx="227810" cy="1983089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75E3BF04-83C3-41D9-8446-EE28CB466FCF}"/>
              </a:ext>
            </a:extLst>
          </p:cNvPr>
          <p:cNvSpPr/>
          <p:nvPr/>
        </p:nvSpPr>
        <p:spPr bwMode="auto">
          <a:xfrm rot="16200000">
            <a:off x="6919037" y="3014663"/>
            <a:ext cx="270820" cy="1975758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ETH Ligh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/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2BE634-B96F-4AD0-BC9D-2B98A8C6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17" y="4078700"/>
                <a:ext cx="206659" cy="307777"/>
              </a:xfrm>
              <a:prstGeom prst="rect">
                <a:avLst/>
              </a:prstGeom>
              <a:blipFill>
                <a:blip r:embed="rId6"/>
                <a:stretch>
                  <a:fillRect l="-14706" r="-1470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/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08C8-1497-481D-80D5-5478820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2" y="2478500"/>
                <a:ext cx="206659" cy="307777"/>
              </a:xfrm>
              <a:prstGeom prst="rect">
                <a:avLst/>
              </a:prstGeom>
              <a:blipFill>
                <a:blip r:embed="rId7"/>
                <a:stretch>
                  <a:fillRect l="-29412" r="-26471" b="-8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1937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406B56-5763-4244-8BCC-AFA78B1E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– Dynamic Time Warping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859A5D7D-5F31-4F9F-8F10-51A989368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0040" y="1010346"/>
                <a:ext cx="8503920" cy="191175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Run spectral clustering using DTW with a window size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How do the results differ from previous results?</a:t>
                </a:r>
              </a:p>
              <a:p>
                <a:r>
                  <a:rPr lang="en-US" sz="2400" dirty="0"/>
                  <a:t>What happens if you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r>
                  <a:rPr lang="en-US" sz="2400" dirty="0"/>
                  <a:t>And if you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859A5D7D-5F31-4F9F-8F10-51A989368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040" y="1010346"/>
                <a:ext cx="8503920" cy="1911758"/>
              </a:xfrm>
              <a:blipFill>
                <a:blip r:embed="rId3"/>
                <a:stretch>
                  <a:fillRect l="-72" b="-7668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2876406-A48D-499A-BD80-7F7BAD92DF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54" t="24223" r="37897" b="53746"/>
          <a:stretch/>
        </p:blipFill>
        <p:spPr>
          <a:xfrm>
            <a:off x="1767988" y="3283203"/>
            <a:ext cx="5608024" cy="1030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C387D4-8242-43C8-B50C-A7ECD6329636}"/>
              </a:ext>
            </a:extLst>
          </p:cNvPr>
          <p:cNvSpPr txBox="1"/>
          <p:nvPr/>
        </p:nvSpPr>
        <p:spPr>
          <a:xfrm>
            <a:off x="2179554" y="4774168"/>
            <a:ext cx="4784892" cy="369332"/>
          </a:xfrm>
          <a:prstGeom prst="rect">
            <a:avLst/>
          </a:prstGeom>
          <a:noFill/>
          <a:ln w="412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n-lt"/>
              </a:rPr>
              <a:t>https://</a:t>
            </a:r>
            <a:r>
              <a:rPr lang="en-US" sz="1800" b="1" dirty="0" err="1">
                <a:solidFill>
                  <a:srgbClr val="FF0000"/>
                </a:solidFill>
                <a:latin typeface="+mn-lt"/>
              </a:rPr>
              <a:t>go.epfl.</a:t>
            </a:r>
            <a:r>
              <a:rPr lang="en-US" sz="1800" b="1" err="1">
                <a:solidFill>
                  <a:srgbClr val="FF0000"/>
                </a:solidFill>
                <a:latin typeface="+mn-lt"/>
              </a:rPr>
              <a:t>ch</a:t>
            </a:r>
            <a:r>
              <a:rPr lang="en-US" sz="1800" b="1">
                <a:solidFill>
                  <a:srgbClr val="FF0000"/>
                </a:solidFill>
                <a:latin typeface="+mn-lt"/>
              </a:rPr>
              <a:t>/mlbd-speakup</a:t>
            </a:r>
            <a:endParaRPr lang="en-CH" sz="1800" b="1" dirty="0" err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31420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8003689" cy="323082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Aggregating features over time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Defining fixed time intervals (weeks, levels in a game, etc.)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Dynamic Time Warping</a:t>
            </a:r>
          </a:p>
          <a:p>
            <a:r>
              <a:rPr lang="en-US" sz="2400" b="1" dirty="0"/>
              <a:t>String Metrics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Markov Models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544370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FBA0FB-4668-4EB3-A693-0F6CDE3D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from Research: String Metrics</a:t>
            </a:r>
            <a:endParaRPr lang="en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1CADF2-BC5B-47FF-A50E-4D935E578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5" y="1320309"/>
            <a:ext cx="4774577" cy="28815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2838C1-1D3C-4E08-A330-8256D992D7B2}"/>
              </a:ext>
            </a:extLst>
          </p:cNvPr>
          <p:cNvSpPr/>
          <p:nvPr/>
        </p:nvSpPr>
        <p:spPr>
          <a:xfrm>
            <a:off x="-1" y="4819279"/>
            <a:ext cx="91440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[</a:t>
            </a:r>
            <a:r>
              <a:rPr lang="en-US" sz="12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Visualization and Confirmatory Clustering of Sequence Data from a Simulation-Based Assessment Task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, 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</a:rPr>
              <a:t>Berger et al.,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EDM 2014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200CEC-1B85-424E-97EE-D1F842147F49}"/>
                  </a:ext>
                </a:extLst>
              </p:cNvPr>
              <p:cNvSpPr txBox="1"/>
              <p:nvPr/>
            </p:nvSpPr>
            <p:spPr>
              <a:xfrm>
                <a:off x="5522941" y="2034579"/>
                <a:ext cx="3512202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C1</a:t>
                </a:r>
                <a:r>
                  <a:rPr lang="en-US" sz="20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CH" sz="2000" i="1" dirty="0" err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200CEC-1B85-424E-97EE-D1F842147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941" y="2034579"/>
                <a:ext cx="3512202" cy="615553"/>
              </a:xfrm>
              <a:prstGeom prst="rect">
                <a:avLst/>
              </a:prstGeom>
              <a:blipFill>
                <a:blip r:embed="rId4"/>
                <a:stretch>
                  <a:fillRect l="-4514" t="-12871" b="-49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78D965-054E-4AAE-B501-033E1B42077F}"/>
                  </a:ext>
                </a:extLst>
              </p:cNvPr>
              <p:cNvSpPr txBox="1"/>
              <p:nvPr/>
            </p:nvSpPr>
            <p:spPr>
              <a:xfrm>
                <a:off x="5522941" y="2958829"/>
                <a:ext cx="33363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CH" sz="2000" i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78D965-054E-4AAE-B501-033E1B420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941" y="2958829"/>
                <a:ext cx="3336363" cy="307777"/>
              </a:xfrm>
              <a:prstGeom prst="rect">
                <a:avLst/>
              </a:prstGeom>
              <a:blipFill>
                <a:blip r:embed="rId5"/>
                <a:stretch>
                  <a:fillRect l="-2742" b="-588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2560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2838C1-1D3C-4E08-A330-8256D992D7B2}"/>
              </a:ext>
            </a:extLst>
          </p:cNvPr>
          <p:cNvSpPr/>
          <p:nvPr/>
        </p:nvSpPr>
        <p:spPr>
          <a:xfrm>
            <a:off x="-1" y="4819279"/>
            <a:ext cx="91440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[</a:t>
            </a:r>
            <a:r>
              <a:rPr lang="en-US" sz="12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Visualization and Confirmatory Clustering of Sequence Data from a Simulation-Based Assessment Task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, 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</a:rPr>
              <a:t>Berger et al.,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EDM 2014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]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571F94BE-1F2D-46BC-833B-4A5B7E51682D}"/>
              </a:ext>
            </a:extLst>
          </p:cNvPr>
          <p:cNvSpPr txBox="1">
            <a:spLocks/>
          </p:cNvSpPr>
          <p:nvPr/>
        </p:nvSpPr>
        <p:spPr bwMode="auto">
          <a:xfrm>
            <a:off x="404757" y="904616"/>
            <a:ext cx="8164100" cy="63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200" kern="0" dirty="0" err="1">
                <a:solidFill>
                  <a:srgbClr val="C00000"/>
                </a:solidFill>
              </a:rPr>
              <a:t>Levensthein</a:t>
            </a:r>
            <a:r>
              <a:rPr lang="en-US" sz="2200" kern="0" dirty="0">
                <a:solidFill>
                  <a:srgbClr val="C00000"/>
                </a:solidFill>
              </a:rPr>
              <a:t> distance</a:t>
            </a:r>
            <a:r>
              <a:rPr lang="en-US" sz="2200" kern="0" dirty="0"/>
              <a:t>: minimal number of single character edits (insertion, deletion, substitution) to change one string into the other</a:t>
            </a:r>
            <a:br>
              <a:rPr lang="en-US" sz="2200" kern="0" dirty="0"/>
            </a:br>
            <a:endParaRPr lang="en-US" sz="2200" kern="0" dirty="0"/>
          </a:p>
          <a:p>
            <a:endParaRPr lang="en-US" sz="2200" kern="0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B55E4468-8223-47C7-B630-44899E179E46}"/>
              </a:ext>
            </a:extLst>
          </p:cNvPr>
          <p:cNvSpPr txBox="1">
            <a:spLocks/>
          </p:cNvSpPr>
          <p:nvPr/>
        </p:nvSpPr>
        <p:spPr bwMode="auto">
          <a:xfrm>
            <a:off x="404757" y="2030305"/>
            <a:ext cx="8164100" cy="63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200" kern="0" dirty="0">
                <a:solidFill>
                  <a:srgbClr val="C00000"/>
                </a:solidFill>
              </a:rPr>
              <a:t>Longest common subsequence (LCS)</a:t>
            </a:r>
            <a:r>
              <a:rPr lang="en-US" sz="2200" kern="0" dirty="0"/>
              <a:t>: string similarity measure, find the longest common subsequence between two sequences</a:t>
            </a:r>
          </a:p>
          <a:p>
            <a:endParaRPr lang="en-US" sz="2200" kern="0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CA8D2D3-6E03-4310-9A65-67C9B836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0"/>
            <a:ext cx="8509406" cy="702260"/>
          </a:xfrm>
        </p:spPr>
        <p:txBody>
          <a:bodyPr/>
          <a:lstStyle/>
          <a:p>
            <a:r>
              <a:rPr lang="en-US" dirty="0"/>
              <a:t>Example from Research: String Metrics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23702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8205395" cy="3230821"/>
          </a:xfrm>
        </p:spPr>
        <p:txBody>
          <a:bodyPr/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Aggregating features over time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Defining fixed time intervals (weeks, levels in a game, etc.)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Dynamic Time Warping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String Metrics</a:t>
            </a:r>
          </a:p>
          <a:p>
            <a:r>
              <a:rPr lang="en-US" sz="2400" b="1" dirty="0"/>
              <a:t>Markov Models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321386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779FD4-8A84-4B53-A60B-621B46470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877826"/>
            <a:ext cx="8503920" cy="2910404"/>
          </a:xfrm>
        </p:spPr>
        <p:txBody>
          <a:bodyPr/>
          <a:lstStyle/>
          <a:p>
            <a:r>
              <a:rPr lang="en-US" dirty="0"/>
              <a:t>Detailed action sequences provide rich temporal information</a:t>
            </a:r>
          </a:p>
          <a:p>
            <a:r>
              <a:rPr lang="en-US" dirty="0"/>
              <a:t>Might contain a considerable amount of noise</a:t>
            </a:r>
          </a:p>
          <a:p>
            <a:r>
              <a:rPr lang="en-US" dirty="0"/>
              <a:t>We might be interested not in the detailed sequence, but in patterns (which actions tend to follow each other)</a:t>
            </a:r>
            <a:endParaRPr lang="en-C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Models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459074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Models</a:t>
            </a:r>
            <a:endParaRPr lang="en-CH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42F31B-005C-4F9A-A21C-AFE9BDBEFCD9}"/>
              </a:ext>
            </a:extLst>
          </p:cNvPr>
          <p:cNvGrpSpPr/>
          <p:nvPr/>
        </p:nvGrpSpPr>
        <p:grpSpPr>
          <a:xfrm>
            <a:off x="842511" y="1789339"/>
            <a:ext cx="2514644" cy="1847849"/>
            <a:chOff x="597583" y="1352551"/>
            <a:chExt cx="3081784" cy="22646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23C02E2-BEBC-4C8B-A44B-97A4FCCEE9CD}"/>
                </a:ext>
              </a:extLst>
            </p:cNvPr>
            <p:cNvGrpSpPr/>
            <p:nvPr/>
          </p:nvGrpSpPr>
          <p:grpSpPr>
            <a:xfrm>
              <a:off x="1606436" y="1352551"/>
              <a:ext cx="1064078" cy="1064078"/>
              <a:chOff x="1779814" y="1260022"/>
              <a:chExt cx="1064078" cy="106407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DDDB419-1CC4-4748-BE0E-9BFA754633E6}"/>
                  </a:ext>
                </a:extLst>
              </p:cNvPr>
              <p:cNvSpPr/>
              <p:nvPr/>
            </p:nvSpPr>
            <p:spPr bwMode="auto">
              <a:xfrm>
                <a:off x="1779814" y="1260022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1E3684-32B2-41F6-92ED-97991063D617}"/>
                  </a:ext>
                </a:extLst>
              </p:cNvPr>
              <p:cNvSpPr txBox="1"/>
              <p:nvPr/>
            </p:nvSpPr>
            <p:spPr>
              <a:xfrm>
                <a:off x="1896158" y="1592006"/>
                <a:ext cx="831392" cy="41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+mn-lt"/>
                  </a:rPr>
                  <a:t>G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ame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F9712EB-191A-4B46-8E1A-8090B7B3F95C}"/>
                </a:ext>
              </a:extLst>
            </p:cNvPr>
            <p:cNvGrpSpPr/>
            <p:nvPr/>
          </p:nvGrpSpPr>
          <p:grpSpPr>
            <a:xfrm>
              <a:off x="597583" y="2553077"/>
              <a:ext cx="1064078" cy="1064078"/>
              <a:chOff x="483280" y="2808894"/>
              <a:chExt cx="1064078" cy="106407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8C75A8C-B89E-4F54-906A-8342205A15BB}"/>
                  </a:ext>
                </a:extLst>
              </p:cNvPr>
              <p:cNvSpPr/>
              <p:nvPr/>
            </p:nvSpPr>
            <p:spPr bwMode="auto">
              <a:xfrm>
                <a:off x="483280" y="2808894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E2F935-71A1-403C-A363-E03E2EE743FF}"/>
                  </a:ext>
                </a:extLst>
              </p:cNvPr>
              <p:cNvSpPr txBox="1"/>
              <p:nvPr/>
            </p:nvSpPr>
            <p:spPr>
              <a:xfrm>
                <a:off x="645791" y="3140878"/>
                <a:ext cx="739059" cy="41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+mn-lt"/>
                  </a:rPr>
                  <a:t>S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hop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462DC0-5BFD-45FC-97E1-04F449AA425E}"/>
                </a:ext>
              </a:extLst>
            </p:cNvPr>
            <p:cNvGrpSpPr/>
            <p:nvPr/>
          </p:nvGrpSpPr>
          <p:grpSpPr>
            <a:xfrm>
              <a:off x="2615289" y="2553077"/>
              <a:ext cx="1064078" cy="1064078"/>
              <a:chOff x="3706585" y="2808894"/>
              <a:chExt cx="1064078" cy="106407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DE3BCB0-3C59-42EE-B183-2D82EE52B6F1}"/>
                  </a:ext>
                </a:extLst>
              </p:cNvPr>
              <p:cNvSpPr/>
              <p:nvPr/>
            </p:nvSpPr>
            <p:spPr bwMode="auto">
              <a:xfrm>
                <a:off x="3706585" y="2808894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6A62CE-A9B9-42C5-918C-949F522FE0CE}"/>
                  </a:ext>
                </a:extLst>
              </p:cNvPr>
              <p:cNvSpPr txBox="1"/>
              <p:nvPr/>
            </p:nvSpPr>
            <p:spPr>
              <a:xfrm>
                <a:off x="3771103" y="2986990"/>
                <a:ext cx="935042" cy="716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FF0000"/>
                    </a:solidFill>
                    <a:latin typeface="+mn-lt"/>
                  </a:rPr>
                  <a:t>P</a:t>
                </a:r>
                <a:r>
                  <a:rPr lang="en-US" sz="1600" dirty="0" err="1">
                    <a:solidFill>
                      <a:schemeClr val="bg1"/>
                    </a:solidFill>
                    <a:latin typeface="+mn-lt"/>
                  </a:rPr>
                  <a:t>erfor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-</a:t>
                </a:r>
                <a:br>
                  <a:rPr lang="en-US" sz="1600" dirty="0">
                    <a:solidFill>
                      <a:schemeClr val="bg1"/>
                    </a:solidFill>
                    <a:latin typeface="+mn-lt"/>
                  </a:rPr>
                </a:br>
                <a:r>
                  <a:rPr lang="en-US" sz="1600" dirty="0" err="1">
                    <a:solidFill>
                      <a:schemeClr val="bg1"/>
                    </a:solidFill>
                    <a:latin typeface="+mn-lt"/>
                  </a:rPr>
                  <a:t>mance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2D94307A-6534-4627-9DDB-A9B7CBEE8A55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 bwMode="auto">
            <a:xfrm rot="5400000">
              <a:off x="1299806" y="2090615"/>
              <a:ext cx="292279" cy="632645"/>
            </a:xfrm>
            <a:prstGeom prst="bentConnector3">
              <a:avLst>
                <a:gd name="adj1" fmla="val -4773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A2A2DB-0F78-4EC0-AEA5-F1B3D5FA14C5}"/>
                </a:ext>
              </a:extLst>
            </p:cNvPr>
            <p:cNvCxnSpPr>
              <a:stCxn id="11" idx="6"/>
              <a:endCxn id="10" idx="2"/>
            </p:cNvCxnSpPr>
            <p:nvPr/>
          </p:nvCxnSpPr>
          <p:spPr bwMode="auto">
            <a:xfrm>
              <a:off x="1661661" y="3085116"/>
              <a:ext cx="95362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1C2CE2E9-321D-4759-81CF-46723064430A}"/>
                </a:ext>
              </a:extLst>
            </p:cNvPr>
            <p:cNvCxnSpPr>
              <a:stCxn id="9" idx="6"/>
              <a:endCxn id="10" idx="0"/>
            </p:cNvCxnSpPr>
            <p:nvPr/>
          </p:nvCxnSpPr>
          <p:spPr bwMode="auto">
            <a:xfrm>
              <a:off x="2670514" y="1884590"/>
              <a:ext cx="476814" cy="668487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E6049AC4-A78D-4127-AE09-F69FA15BA056}"/>
                </a:ext>
              </a:extLst>
            </p:cNvPr>
            <p:cNvCxnSpPr>
              <a:stCxn id="10" idx="7"/>
              <a:endCxn id="9" idx="7"/>
            </p:cNvCxnSpPr>
            <p:nvPr/>
          </p:nvCxnSpPr>
          <p:spPr bwMode="auto">
            <a:xfrm rot="16200000" flipV="1">
              <a:off x="2418847" y="1604218"/>
              <a:ext cx="1200526" cy="1008853"/>
            </a:xfrm>
            <a:prstGeom prst="bentConnector3">
              <a:avLst>
                <a:gd name="adj1" fmla="val 9979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5280BCC1-C2FD-4E2E-A3BF-B903E3492BEA}"/>
                </a:ext>
              </a:extLst>
            </p:cNvPr>
            <p:cNvCxnSpPr>
              <a:cxnSpLocks/>
              <a:stCxn id="11" idx="1"/>
              <a:endCxn id="9" idx="2"/>
            </p:cNvCxnSpPr>
            <p:nvPr/>
          </p:nvCxnSpPr>
          <p:spPr bwMode="auto">
            <a:xfrm rot="5400000" flipH="1" flipV="1">
              <a:off x="767766" y="1870238"/>
              <a:ext cx="824318" cy="853022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F52CF7D-7BF5-4037-86EE-517F43A0F573}"/>
                </a:ext>
              </a:extLst>
            </p:cNvPr>
            <p:cNvCxnSpPr>
              <a:stCxn id="10" idx="3"/>
              <a:endCxn id="11" idx="5"/>
            </p:cNvCxnSpPr>
            <p:nvPr/>
          </p:nvCxnSpPr>
          <p:spPr bwMode="auto">
            <a:xfrm flipH="1">
              <a:off x="1505830" y="3461324"/>
              <a:ext cx="1265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8EBE5DE-AD39-402D-BAF0-EE9A2393D5B9}"/>
                </a:ext>
              </a:extLst>
            </p:cNvPr>
            <p:cNvCxnSpPr>
              <a:stCxn id="9" idx="1"/>
              <a:endCxn id="9" idx="0"/>
            </p:cNvCxnSpPr>
            <p:nvPr/>
          </p:nvCxnSpPr>
          <p:spPr bwMode="auto">
            <a:xfrm rot="5400000" flipH="1" flipV="1">
              <a:off x="1872456" y="1242363"/>
              <a:ext cx="155831" cy="376208"/>
            </a:xfrm>
            <a:prstGeom prst="bentConnector3">
              <a:avLst>
                <a:gd name="adj1" fmla="val 2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4053C3D7-2194-455A-BB75-2758C3F434E9}"/>
                </a:ext>
              </a:extLst>
            </p:cNvPr>
            <p:cNvCxnSpPr>
              <a:stCxn id="10" idx="4"/>
              <a:endCxn id="10" idx="5"/>
            </p:cNvCxnSpPr>
            <p:nvPr/>
          </p:nvCxnSpPr>
          <p:spPr bwMode="auto">
            <a:xfrm rot="5400000" flipH="1" flipV="1">
              <a:off x="3257516" y="3351136"/>
              <a:ext cx="155831" cy="376208"/>
            </a:xfrm>
            <a:prstGeom prst="bentConnector3">
              <a:avLst>
                <a:gd name="adj1" fmla="val -1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EAFE61CF-918E-41E6-A8E2-649111F62BF1}"/>
                </a:ext>
              </a:extLst>
            </p:cNvPr>
            <p:cNvCxnSpPr>
              <a:stCxn id="11" idx="4"/>
              <a:endCxn id="11" idx="3"/>
            </p:cNvCxnSpPr>
            <p:nvPr/>
          </p:nvCxnSpPr>
          <p:spPr bwMode="auto">
            <a:xfrm rot="5400000" flipH="1">
              <a:off x="863602" y="3351136"/>
              <a:ext cx="155831" cy="376208"/>
            </a:xfrm>
            <a:prstGeom prst="bentConnector3">
              <a:avLst>
                <a:gd name="adj1" fmla="val -1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879879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Models</a:t>
            </a:r>
            <a:endParaRPr lang="en-CH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742F31B-005C-4F9A-A21C-AFE9BDBEFCD9}"/>
              </a:ext>
            </a:extLst>
          </p:cNvPr>
          <p:cNvGrpSpPr/>
          <p:nvPr/>
        </p:nvGrpSpPr>
        <p:grpSpPr>
          <a:xfrm>
            <a:off x="842511" y="1789339"/>
            <a:ext cx="2514644" cy="1847849"/>
            <a:chOff x="597583" y="1352551"/>
            <a:chExt cx="3081784" cy="22646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23C02E2-BEBC-4C8B-A44B-97A4FCCEE9CD}"/>
                </a:ext>
              </a:extLst>
            </p:cNvPr>
            <p:cNvGrpSpPr/>
            <p:nvPr/>
          </p:nvGrpSpPr>
          <p:grpSpPr>
            <a:xfrm>
              <a:off x="1606436" y="1352551"/>
              <a:ext cx="1064078" cy="1064078"/>
              <a:chOff x="1779814" y="1260022"/>
              <a:chExt cx="1064078" cy="106407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DDDB419-1CC4-4748-BE0E-9BFA754633E6}"/>
                  </a:ext>
                </a:extLst>
              </p:cNvPr>
              <p:cNvSpPr/>
              <p:nvPr/>
            </p:nvSpPr>
            <p:spPr bwMode="auto">
              <a:xfrm>
                <a:off x="1779814" y="1260022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1E3684-32B2-41F6-92ED-97991063D617}"/>
                  </a:ext>
                </a:extLst>
              </p:cNvPr>
              <p:cNvSpPr txBox="1"/>
              <p:nvPr/>
            </p:nvSpPr>
            <p:spPr>
              <a:xfrm>
                <a:off x="1896158" y="1592006"/>
                <a:ext cx="831392" cy="41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+mn-lt"/>
                  </a:rPr>
                  <a:t>G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ame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F9712EB-191A-4B46-8E1A-8090B7B3F95C}"/>
                </a:ext>
              </a:extLst>
            </p:cNvPr>
            <p:cNvGrpSpPr/>
            <p:nvPr/>
          </p:nvGrpSpPr>
          <p:grpSpPr>
            <a:xfrm>
              <a:off x="597583" y="2553077"/>
              <a:ext cx="1064078" cy="1064078"/>
              <a:chOff x="483280" y="2808894"/>
              <a:chExt cx="1064078" cy="106407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8C75A8C-B89E-4F54-906A-8342205A15BB}"/>
                  </a:ext>
                </a:extLst>
              </p:cNvPr>
              <p:cNvSpPr/>
              <p:nvPr/>
            </p:nvSpPr>
            <p:spPr bwMode="auto">
              <a:xfrm>
                <a:off x="483280" y="2808894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E2F935-71A1-403C-A363-E03E2EE743FF}"/>
                  </a:ext>
                </a:extLst>
              </p:cNvPr>
              <p:cNvSpPr txBox="1"/>
              <p:nvPr/>
            </p:nvSpPr>
            <p:spPr>
              <a:xfrm>
                <a:off x="645791" y="3140878"/>
                <a:ext cx="739059" cy="41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+mn-lt"/>
                  </a:rPr>
                  <a:t>S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hop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2462DC0-5BFD-45FC-97E1-04F449AA425E}"/>
                </a:ext>
              </a:extLst>
            </p:cNvPr>
            <p:cNvGrpSpPr/>
            <p:nvPr/>
          </p:nvGrpSpPr>
          <p:grpSpPr>
            <a:xfrm>
              <a:off x="2615289" y="2553077"/>
              <a:ext cx="1064078" cy="1064078"/>
              <a:chOff x="3706585" y="2808894"/>
              <a:chExt cx="1064078" cy="106407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DE3BCB0-3C59-42EE-B183-2D82EE52B6F1}"/>
                  </a:ext>
                </a:extLst>
              </p:cNvPr>
              <p:cNvSpPr/>
              <p:nvPr/>
            </p:nvSpPr>
            <p:spPr bwMode="auto">
              <a:xfrm>
                <a:off x="3706585" y="2808894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6A62CE-A9B9-42C5-918C-949F522FE0CE}"/>
                  </a:ext>
                </a:extLst>
              </p:cNvPr>
              <p:cNvSpPr txBox="1"/>
              <p:nvPr/>
            </p:nvSpPr>
            <p:spPr>
              <a:xfrm>
                <a:off x="3771103" y="2986990"/>
                <a:ext cx="935042" cy="716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FF0000"/>
                    </a:solidFill>
                    <a:latin typeface="+mn-lt"/>
                  </a:rPr>
                  <a:t>P</a:t>
                </a:r>
                <a:r>
                  <a:rPr lang="en-US" sz="1600" dirty="0" err="1">
                    <a:solidFill>
                      <a:schemeClr val="bg1"/>
                    </a:solidFill>
                    <a:latin typeface="+mn-lt"/>
                  </a:rPr>
                  <a:t>erfor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-</a:t>
                </a:r>
                <a:br>
                  <a:rPr lang="en-US" sz="1600" dirty="0">
                    <a:solidFill>
                      <a:schemeClr val="bg1"/>
                    </a:solidFill>
                    <a:latin typeface="+mn-lt"/>
                  </a:rPr>
                </a:br>
                <a:r>
                  <a:rPr lang="en-US" sz="1600" dirty="0" err="1">
                    <a:solidFill>
                      <a:schemeClr val="bg1"/>
                    </a:solidFill>
                    <a:latin typeface="+mn-lt"/>
                  </a:rPr>
                  <a:t>mance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2D94307A-6534-4627-9DDB-A9B7CBEE8A55}"/>
                </a:ext>
              </a:extLst>
            </p:cNvPr>
            <p:cNvCxnSpPr>
              <a:cxnSpLocks/>
              <a:stCxn id="9" idx="3"/>
              <a:endCxn id="11" idx="0"/>
            </p:cNvCxnSpPr>
            <p:nvPr/>
          </p:nvCxnSpPr>
          <p:spPr bwMode="auto">
            <a:xfrm rot="5400000">
              <a:off x="1299806" y="2090615"/>
              <a:ext cx="292279" cy="632645"/>
            </a:xfrm>
            <a:prstGeom prst="bentConnector3">
              <a:avLst>
                <a:gd name="adj1" fmla="val -4773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A2A2DB-0F78-4EC0-AEA5-F1B3D5FA14C5}"/>
                </a:ext>
              </a:extLst>
            </p:cNvPr>
            <p:cNvCxnSpPr>
              <a:stCxn id="11" idx="6"/>
              <a:endCxn id="10" idx="2"/>
            </p:cNvCxnSpPr>
            <p:nvPr/>
          </p:nvCxnSpPr>
          <p:spPr bwMode="auto">
            <a:xfrm>
              <a:off x="1661661" y="3085116"/>
              <a:ext cx="95362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1C2CE2E9-321D-4759-81CF-46723064430A}"/>
                </a:ext>
              </a:extLst>
            </p:cNvPr>
            <p:cNvCxnSpPr>
              <a:stCxn id="9" idx="6"/>
              <a:endCxn id="10" idx="0"/>
            </p:cNvCxnSpPr>
            <p:nvPr/>
          </p:nvCxnSpPr>
          <p:spPr bwMode="auto">
            <a:xfrm>
              <a:off x="2670514" y="1884590"/>
              <a:ext cx="476814" cy="668487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E6049AC4-A78D-4127-AE09-F69FA15BA056}"/>
                </a:ext>
              </a:extLst>
            </p:cNvPr>
            <p:cNvCxnSpPr>
              <a:stCxn id="10" idx="7"/>
              <a:endCxn id="9" idx="7"/>
            </p:cNvCxnSpPr>
            <p:nvPr/>
          </p:nvCxnSpPr>
          <p:spPr bwMode="auto">
            <a:xfrm rot="16200000" flipV="1">
              <a:off x="2418847" y="1604218"/>
              <a:ext cx="1200526" cy="1008853"/>
            </a:xfrm>
            <a:prstGeom prst="bentConnector3">
              <a:avLst>
                <a:gd name="adj1" fmla="val 9979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5280BCC1-C2FD-4E2E-A3BF-B903E3492BEA}"/>
                </a:ext>
              </a:extLst>
            </p:cNvPr>
            <p:cNvCxnSpPr>
              <a:cxnSpLocks/>
              <a:stCxn id="11" idx="1"/>
              <a:endCxn id="9" idx="2"/>
            </p:cNvCxnSpPr>
            <p:nvPr/>
          </p:nvCxnSpPr>
          <p:spPr bwMode="auto">
            <a:xfrm rot="5400000" flipH="1" flipV="1">
              <a:off x="767766" y="1870238"/>
              <a:ext cx="824318" cy="853022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F52CF7D-7BF5-4037-86EE-517F43A0F573}"/>
                </a:ext>
              </a:extLst>
            </p:cNvPr>
            <p:cNvCxnSpPr>
              <a:stCxn id="10" idx="3"/>
              <a:endCxn id="11" idx="5"/>
            </p:cNvCxnSpPr>
            <p:nvPr/>
          </p:nvCxnSpPr>
          <p:spPr bwMode="auto">
            <a:xfrm flipH="1">
              <a:off x="1505830" y="3461324"/>
              <a:ext cx="1265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8EBE5DE-AD39-402D-BAF0-EE9A2393D5B9}"/>
                </a:ext>
              </a:extLst>
            </p:cNvPr>
            <p:cNvCxnSpPr>
              <a:stCxn id="9" idx="1"/>
              <a:endCxn id="9" idx="0"/>
            </p:cNvCxnSpPr>
            <p:nvPr/>
          </p:nvCxnSpPr>
          <p:spPr bwMode="auto">
            <a:xfrm rot="5400000" flipH="1" flipV="1">
              <a:off x="1872456" y="1242363"/>
              <a:ext cx="155831" cy="376208"/>
            </a:xfrm>
            <a:prstGeom prst="bentConnector3">
              <a:avLst>
                <a:gd name="adj1" fmla="val 2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4053C3D7-2194-455A-BB75-2758C3F434E9}"/>
                </a:ext>
              </a:extLst>
            </p:cNvPr>
            <p:cNvCxnSpPr>
              <a:stCxn id="10" idx="4"/>
              <a:endCxn id="10" idx="5"/>
            </p:cNvCxnSpPr>
            <p:nvPr/>
          </p:nvCxnSpPr>
          <p:spPr bwMode="auto">
            <a:xfrm rot="5400000" flipH="1" flipV="1">
              <a:off x="3257516" y="3351136"/>
              <a:ext cx="155831" cy="376208"/>
            </a:xfrm>
            <a:prstGeom prst="bentConnector3">
              <a:avLst>
                <a:gd name="adj1" fmla="val -1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EAFE61CF-918E-41E6-A8E2-649111F62BF1}"/>
                </a:ext>
              </a:extLst>
            </p:cNvPr>
            <p:cNvCxnSpPr>
              <a:stCxn id="11" idx="4"/>
              <a:endCxn id="11" idx="3"/>
            </p:cNvCxnSpPr>
            <p:nvPr/>
          </p:nvCxnSpPr>
          <p:spPr bwMode="auto">
            <a:xfrm rot="5400000" flipH="1">
              <a:off x="863602" y="3351136"/>
              <a:ext cx="155831" cy="376208"/>
            </a:xfrm>
            <a:prstGeom prst="bentConnector3">
              <a:avLst>
                <a:gd name="adj1" fmla="val -1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/>
              <p:nvPr/>
            </p:nvSpPr>
            <p:spPr>
              <a:xfrm>
                <a:off x="4328731" y="2060228"/>
                <a:ext cx="38401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731" y="2060228"/>
                <a:ext cx="3840154" cy="307777"/>
              </a:xfrm>
              <a:prstGeom prst="rect">
                <a:avLst/>
              </a:prstGeom>
              <a:blipFill>
                <a:blip r:embed="rId2"/>
                <a:stretch>
                  <a:fillRect l="-952" r="-794" b="-6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2C5E44-00E4-4D68-A32B-8DC941C1A18D}"/>
                  </a:ext>
                </a:extLst>
              </p:cNvPr>
              <p:cNvSpPr txBox="1"/>
              <p:nvPr/>
            </p:nvSpPr>
            <p:spPr>
              <a:xfrm>
                <a:off x="4328731" y="2598320"/>
                <a:ext cx="34054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2C5E44-00E4-4D68-A32B-8DC941C1A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731" y="2598320"/>
                <a:ext cx="3405483" cy="307777"/>
              </a:xfrm>
              <a:prstGeom prst="rect">
                <a:avLst/>
              </a:prstGeom>
              <a:blipFill>
                <a:blip r:embed="rId3"/>
                <a:stretch>
                  <a:fillRect l="-1252" r="-894" b="-588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36B3D4-7084-4163-AF3E-1616BBF9C9F1}"/>
                  </a:ext>
                </a:extLst>
              </p:cNvPr>
              <p:cNvSpPr txBox="1"/>
              <p:nvPr/>
            </p:nvSpPr>
            <p:spPr>
              <a:xfrm>
                <a:off x="4328731" y="3136411"/>
                <a:ext cx="28029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36B3D4-7084-4163-AF3E-1616BBF9C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731" y="3136411"/>
                <a:ext cx="2802947" cy="307777"/>
              </a:xfrm>
              <a:prstGeom prst="rect">
                <a:avLst/>
              </a:prstGeom>
              <a:blipFill>
                <a:blip r:embed="rId4"/>
                <a:stretch>
                  <a:fillRect l="-1522" r="-1522" b="-6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987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B1550D-1E25-4B2B-8627-0448D217086C}"/>
              </a:ext>
            </a:extLst>
          </p:cNvPr>
          <p:cNvSpPr/>
          <p:nvPr/>
        </p:nvSpPr>
        <p:spPr bwMode="auto">
          <a:xfrm>
            <a:off x="353786" y="1115786"/>
            <a:ext cx="8475660" cy="702260"/>
          </a:xfrm>
          <a:prstGeom prst="rect">
            <a:avLst/>
          </a:prstGeom>
          <a:solidFill>
            <a:schemeClr val="accent3"/>
          </a:solidFill>
          <a:ln w="28575">
            <a:solidFill>
              <a:srgbClr val="0070C0"/>
            </a:solidFill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Parameters: Maximum Likelihood Estimation</a:t>
            </a:r>
            <a:endParaRPr lang="en-CH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/>
              <p:nvPr/>
            </p:nvSpPr>
            <p:spPr>
              <a:xfrm>
                <a:off x="462686" y="1162157"/>
                <a:ext cx="8415746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6" y="1162157"/>
                <a:ext cx="8415746" cy="608436"/>
              </a:xfrm>
              <a:prstGeom prst="rect">
                <a:avLst/>
              </a:prstGeom>
              <a:blipFill>
                <a:blip r:embed="rId2"/>
                <a:stretch>
                  <a:fillRect l="-1087" b="-30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37BA92-D2D6-4FD4-815F-B3C4A9BAA9E8}"/>
                  </a:ext>
                </a:extLst>
              </p:cNvPr>
              <p:cNvSpPr txBox="1"/>
              <p:nvPr/>
            </p:nvSpPr>
            <p:spPr>
              <a:xfrm>
                <a:off x="1177611" y="2183008"/>
                <a:ext cx="2247923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=0.67</m:t>
                      </m:r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37BA92-D2D6-4FD4-815F-B3C4A9BAA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611" y="2183008"/>
                <a:ext cx="2247923" cy="578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A554C5-27EB-432E-9820-D24528EBB822}"/>
                  </a:ext>
                </a:extLst>
              </p:cNvPr>
              <p:cNvSpPr txBox="1"/>
              <p:nvPr/>
            </p:nvSpPr>
            <p:spPr>
              <a:xfrm>
                <a:off x="1145679" y="3042223"/>
                <a:ext cx="227985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=0.13</m:t>
                      </m:r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A554C5-27EB-432E-9820-D24528EBB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79" y="3042223"/>
                <a:ext cx="2279855" cy="578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10A9D-0E00-43E1-8A43-5DA1B0AA3C04}"/>
                  </a:ext>
                </a:extLst>
              </p:cNvPr>
              <p:cNvSpPr txBox="1"/>
              <p:nvPr/>
            </p:nvSpPr>
            <p:spPr>
              <a:xfrm>
                <a:off x="1120140" y="3901438"/>
                <a:ext cx="2271648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=0.20</m:t>
                      </m:r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10A9D-0E00-43E1-8A43-5DA1B0AA3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0" y="3901438"/>
                <a:ext cx="2271648" cy="578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/>
              <p:nvPr/>
            </p:nvSpPr>
            <p:spPr>
              <a:xfrm>
                <a:off x="5489122" y="2924824"/>
                <a:ext cx="2776401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.13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0.79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0.33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122" y="2924824"/>
                <a:ext cx="2776401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/>
              <p:nvPr/>
            </p:nvSpPr>
            <p:spPr>
              <a:xfrm>
                <a:off x="5171284" y="2927197"/>
                <a:ext cx="280525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284" y="2927197"/>
                <a:ext cx="280525" cy="9742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/>
              <p:nvPr/>
            </p:nvSpPr>
            <p:spPr>
              <a:xfrm>
                <a:off x="5380536" y="2508039"/>
                <a:ext cx="29935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536" y="2508039"/>
                <a:ext cx="2993571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509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486F18-E188-4BA1-A5D2-E9D3A8A0FC7F}"/>
              </a:ext>
            </a:extLst>
          </p:cNvPr>
          <p:cNvSpPr/>
          <p:nvPr/>
        </p:nvSpPr>
        <p:spPr bwMode="auto">
          <a:xfrm>
            <a:off x="5393871" y="2897610"/>
            <a:ext cx="1453243" cy="70226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0070C0"/>
            </a:solidFill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1550D-1E25-4B2B-8627-0448D217086C}"/>
              </a:ext>
            </a:extLst>
          </p:cNvPr>
          <p:cNvSpPr/>
          <p:nvPr/>
        </p:nvSpPr>
        <p:spPr bwMode="auto">
          <a:xfrm>
            <a:off x="353786" y="1115786"/>
            <a:ext cx="8475660" cy="702260"/>
          </a:xfrm>
          <a:prstGeom prst="rect">
            <a:avLst/>
          </a:prstGeom>
          <a:solidFill>
            <a:schemeClr val="accent3"/>
          </a:solidFill>
          <a:ln w="28575">
            <a:solidFill>
              <a:srgbClr val="0070C0"/>
            </a:solidFill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Stationary Distribution</a:t>
            </a:r>
            <a:endParaRPr lang="en-CH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/>
              <p:nvPr/>
            </p:nvSpPr>
            <p:spPr>
              <a:xfrm>
                <a:off x="462686" y="1162157"/>
                <a:ext cx="8415746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6" y="1162157"/>
                <a:ext cx="8415746" cy="608436"/>
              </a:xfrm>
              <a:prstGeom prst="rect">
                <a:avLst/>
              </a:prstGeom>
              <a:blipFill>
                <a:blip r:embed="rId3"/>
                <a:stretch>
                  <a:fillRect l="-1087" b="-30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/>
              <p:nvPr/>
            </p:nvSpPr>
            <p:spPr>
              <a:xfrm>
                <a:off x="721180" y="2897610"/>
                <a:ext cx="2776401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.13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0.33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80" y="2897610"/>
                <a:ext cx="2776401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/>
              <p:nvPr/>
            </p:nvSpPr>
            <p:spPr>
              <a:xfrm>
                <a:off x="403342" y="2899983"/>
                <a:ext cx="280525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42" y="2899983"/>
                <a:ext cx="280525" cy="9742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/>
              <p:nvPr/>
            </p:nvSpPr>
            <p:spPr>
              <a:xfrm>
                <a:off x="612594" y="2480825"/>
                <a:ext cx="29935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94" y="2480825"/>
                <a:ext cx="2993571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8A2344-39EB-4938-B3E0-5A91C60D3242}"/>
                  </a:ext>
                </a:extLst>
              </p:cNvPr>
              <p:cNvSpPr txBox="1"/>
              <p:nvPr/>
            </p:nvSpPr>
            <p:spPr>
              <a:xfrm>
                <a:off x="5532663" y="3031932"/>
                <a:ext cx="11962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H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H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CH" sz="28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8A2344-39EB-4938-B3E0-5A91C60D3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663" y="3031932"/>
                <a:ext cx="119629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0701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486F18-E188-4BA1-A5D2-E9D3A8A0FC7F}"/>
              </a:ext>
            </a:extLst>
          </p:cNvPr>
          <p:cNvSpPr/>
          <p:nvPr/>
        </p:nvSpPr>
        <p:spPr bwMode="auto">
          <a:xfrm>
            <a:off x="5393871" y="2897610"/>
            <a:ext cx="1453243" cy="70226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0070C0"/>
            </a:solidFill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1550D-1E25-4B2B-8627-0448D217086C}"/>
              </a:ext>
            </a:extLst>
          </p:cNvPr>
          <p:cNvSpPr/>
          <p:nvPr/>
        </p:nvSpPr>
        <p:spPr bwMode="auto">
          <a:xfrm>
            <a:off x="353786" y="1115786"/>
            <a:ext cx="8475660" cy="702260"/>
          </a:xfrm>
          <a:prstGeom prst="rect">
            <a:avLst/>
          </a:prstGeom>
          <a:solidFill>
            <a:schemeClr val="accent3"/>
          </a:solidFill>
          <a:ln w="28575">
            <a:solidFill>
              <a:srgbClr val="0070C0"/>
            </a:solidFill>
          </a:ln>
          <a:effectLst/>
        </p:spPr>
        <p:txBody>
          <a:bodyPr wrap="none" rtlCol="0" anchor="ctr"/>
          <a:lstStyle/>
          <a:p>
            <a:pPr algn="ctr"/>
            <a:endParaRPr lang="en-CH">
              <a:solidFill>
                <a:srgbClr val="566B7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Stationary Distribution</a:t>
            </a:r>
            <a:endParaRPr lang="en-CH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/>
              <p:nvPr/>
            </p:nvSpPr>
            <p:spPr>
              <a:xfrm>
                <a:off x="462686" y="1162157"/>
                <a:ext cx="8415746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147A5-BC98-41EE-A451-3186BAE8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86" y="1162157"/>
                <a:ext cx="8415746" cy="608436"/>
              </a:xfrm>
              <a:prstGeom prst="rect">
                <a:avLst/>
              </a:prstGeom>
              <a:blipFill>
                <a:blip r:embed="rId3"/>
                <a:stretch>
                  <a:fillRect l="-1087" b="-30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/>
              <p:nvPr/>
            </p:nvSpPr>
            <p:spPr>
              <a:xfrm>
                <a:off x="721180" y="2897610"/>
                <a:ext cx="2776401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.13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0.11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0.33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80" y="2897610"/>
                <a:ext cx="2776401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/>
              <p:nvPr/>
            </p:nvSpPr>
            <p:spPr>
              <a:xfrm>
                <a:off x="403342" y="2899983"/>
                <a:ext cx="280525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42" y="2899983"/>
                <a:ext cx="280525" cy="9742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/>
              <p:nvPr/>
            </p:nvSpPr>
            <p:spPr>
              <a:xfrm>
                <a:off x="612594" y="2480825"/>
                <a:ext cx="29935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94" y="2480825"/>
                <a:ext cx="2993571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8A2344-39EB-4938-B3E0-5A91C60D3242}"/>
                  </a:ext>
                </a:extLst>
              </p:cNvPr>
              <p:cNvSpPr txBox="1"/>
              <p:nvPr/>
            </p:nvSpPr>
            <p:spPr>
              <a:xfrm>
                <a:off x="5532663" y="3031932"/>
                <a:ext cx="11962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H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H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CH" sz="28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8A2344-39EB-4938-B3E0-5A91C60D3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663" y="3031932"/>
                <a:ext cx="119629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6B80F-95D9-4D4A-A266-E652F5FC006E}"/>
                  </a:ext>
                </a:extLst>
              </p:cNvPr>
              <p:cNvSpPr txBox="1"/>
              <p:nvPr/>
            </p:nvSpPr>
            <p:spPr>
              <a:xfrm>
                <a:off x="4721376" y="3796677"/>
                <a:ext cx="320626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H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.48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0.43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6B80F-95D9-4D4A-A266-E652F5FC0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376" y="3796677"/>
                <a:ext cx="3206262" cy="369332"/>
              </a:xfrm>
              <a:prstGeom prst="rect">
                <a:avLst/>
              </a:prstGeom>
              <a:blipFill>
                <a:blip r:embed="rId8"/>
                <a:stretch>
                  <a:fillRect l="-952" b="-10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2838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42E48-A98A-4647-A73D-7AEEBB5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Expected Frequencies</a:t>
            </a:r>
            <a:endParaRPr lang="en-CH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/>
              <p:nvPr/>
            </p:nvSpPr>
            <p:spPr>
              <a:xfrm>
                <a:off x="1483180" y="2619203"/>
                <a:ext cx="2776401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H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C480C-7DF7-4D9C-B8CB-AD71D9002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180" y="2619203"/>
                <a:ext cx="2776401" cy="976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/>
              <p:nvPr/>
            </p:nvSpPr>
            <p:spPr>
              <a:xfrm>
                <a:off x="1165342" y="2621576"/>
                <a:ext cx="280525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mr>
                        <m:m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790497-86AB-4E62-99D7-C538AFA2D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42" y="2621576"/>
                <a:ext cx="280525" cy="974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/>
              <p:nvPr/>
            </p:nvSpPr>
            <p:spPr>
              <a:xfrm>
                <a:off x="1374594" y="2202418"/>
                <a:ext cx="29935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CH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mr>
                      </m:m>
                    </m:oMath>
                  </m:oMathPara>
                </a14:m>
                <a:endParaRPr lang="en-CH" b="1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1DA3F6-000D-4493-8E58-B270489F3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594" y="2202418"/>
                <a:ext cx="2993571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F3BE11E-CDE9-47B2-BC3D-7C9226D8E0CD}"/>
              </a:ext>
            </a:extLst>
          </p:cNvPr>
          <p:cNvSpPr txBox="1"/>
          <p:nvPr/>
        </p:nvSpPr>
        <p:spPr>
          <a:xfrm>
            <a:off x="522514" y="1036840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When sequences get very long (n gets large), how often do we expect to observe the transitions?</a:t>
            </a:r>
            <a:endParaRPr lang="en-CH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82201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3C5B85-DBC9-4C6B-A00F-ACA05984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Metrics</a:t>
            </a:r>
            <a:endParaRPr lang="en-C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7D2FA94-072C-470A-B555-A9F3423BCBC6}"/>
              </a:ext>
            </a:extLst>
          </p:cNvPr>
          <p:cNvSpPr txBox="1">
            <a:spLocks/>
          </p:cNvSpPr>
          <p:nvPr/>
        </p:nvSpPr>
        <p:spPr bwMode="auto">
          <a:xfrm>
            <a:off x="176157" y="1042263"/>
            <a:ext cx="7887792" cy="63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200" kern="0" dirty="0"/>
              <a:t>Based on </a:t>
            </a:r>
            <a:r>
              <a:rPr lang="en-US" sz="2200" kern="0" dirty="0" err="1">
                <a:solidFill>
                  <a:srgbClr val="C00000"/>
                </a:solidFill>
              </a:rPr>
              <a:t>Frobenius</a:t>
            </a:r>
            <a:r>
              <a:rPr lang="en-US" sz="2200" kern="0" dirty="0">
                <a:solidFill>
                  <a:srgbClr val="C00000"/>
                </a:solidFill>
              </a:rPr>
              <a:t> Norm</a:t>
            </a:r>
            <a:r>
              <a:rPr lang="en-US" sz="2200" kern="0" dirty="0"/>
              <a:t>: equivalent to Euclidean distance over vectors</a:t>
            </a:r>
            <a:br>
              <a:rPr lang="en-US" sz="2200" kern="0" dirty="0"/>
            </a:br>
            <a:endParaRPr lang="en-US" sz="2200" kern="0" dirty="0"/>
          </a:p>
          <a:p>
            <a:pPr marL="0" indent="0">
              <a:buNone/>
            </a:pPr>
            <a:endParaRPr lang="en-US" sz="22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E9770-6964-4083-927F-88D8CDEC2591}"/>
                  </a:ext>
                </a:extLst>
              </p:cNvPr>
              <p:cNvSpPr txBox="1"/>
              <p:nvPr/>
            </p:nvSpPr>
            <p:spPr>
              <a:xfrm>
                <a:off x="677635" y="2338948"/>
                <a:ext cx="3513654" cy="11973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H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rad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E9770-6964-4083-927F-88D8CDEC2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35" y="2338948"/>
                <a:ext cx="3513654" cy="11973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5509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3C5B85-DBC9-4C6B-A00F-ACA05984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Metrics</a:t>
            </a:r>
            <a:endParaRPr lang="en-C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7D2FA94-072C-470A-B555-A9F3423BCBC6}"/>
              </a:ext>
            </a:extLst>
          </p:cNvPr>
          <p:cNvSpPr txBox="1">
            <a:spLocks/>
          </p:cNvSpPr>
          <p:nvPr/>
        </p:nvSpPr>
        <p:spPr bwMode="auto">
          <a:xfrm>
            <a:off x="154385" y="1042263"/>
            <a:ext cx="7887792" cy="63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200" kern="0" dirty="0" err="1">
                <a:solidFill>
                  <a:srgbClr val="C00000"/>
                </a:solidFill>
              </a:rPr>
              <a:t>Kullback-Leibler</a:t>
            </a:r>
            <a:r>
              <a:rPr lang="en-US" sz="2200" kern="0" dirty="0">
                <a:solidFill>
                  <a:srgbClr val="C00000"/>
                </a:solidFill>
              </a:rPr>
              <a:t> Divergence</a:t>
            </a:r>
            <a:r>
              <a:rPr lang="en-US" sz="2200" kern="0" dirty="0"/>
              <a:t>: measures difference between two probability distributions</a:t>
            </a:r>
            <a:br>
              <a:rPr lang="en-US" sz="2200" kern="0" dirty="0"/>
            </a:br>
            <a:endParaRPr lang="en-US" sz="2200" kern="0" dirty="0"/>
          </a:p>
          <a:p>
            <a:pPr marL="0" indent="0">
              <a:buNone/>
            </a:pPr>
            <a:endParaRPr lang="en-US" sz="22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E86F32-604D-4B95-AD4C-A629D41CB0A1}"/>
                  </a:ext>
                </a:extLst>
              </p:cNvPr>
              <p:cNvSpPr txBox="1"/>
              <p:nvPr/>
            </p:nvSpPr>
            <p:spPr>
              <a:xfrm>
                <a:off x="785695" y="3862197"/>
                <a:ext cx="4894417" cy="478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𝐽𝑆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sz="22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CH" sz="22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E86F32-604D-4B95-AD4C-A629D41CB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95" y="3862197"/>
                <a:ext cx="4894417" cy="478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D605A81-5E58-403C-AA32-59ABBB2B72E6}"/>
              </a:ext>
            </a:extLst>
          </p:cNvPr>
          <p:cNvSpPr txBox="1">
            <a:spLocks/>
          </p:cNvSpPr>
          <p:nvPr/>
        </p:nvSpPr>
        <p:spPr bwMode="auto">
          <a:xfrm>
            <a:off x="230585" y="2717668"/>
            <a:ext cx="7887792" cy="63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200" kern="0" dirty="0">
                <a:solidFill>
                  <a:srgbClr val="C00000"/>
                </a:solidFill>
              </a:rPr>
              <a:t>Jensen-Shannon Divergence</a:t>
            </a:r>
            <a:r>
              <a:rPr lang="en-US" sz="2200" kern="0" dirty="0"/>
              <a:t>: measures difference between two probability distributions</a:t>
            </a:r>
          </a:p>
          <a:p>
            <a:pPr marL="0" indent="0">
              <a:buNone/>
            </a:pPr>
            <a:endParaRPr lang="en-US" sz="22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48704-CA9E-4585-98BD-8C319D1114B0}"/>
                  </a:ext>
                </a:extLst>
              </p:cNvPr>
              <p:cNvSpPr txBox="1"/>
              <p:nvPr/>
            </p:nvSpPr>
            <p:spPr>
              <a:xfrm>
                <a:off x="2053009" y="2012065"/>
                <a:ext cx="4090543" cy="827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sub>
                        <m:sup/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)∙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H" sz="22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48704-CA9E-4585-98BD-8C319D111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009" y="2012065"/>
                <a:ext cx="4090543" cy="8275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B7C4A9-CDE7-4947-9B53-1F0C5BF91E10}"/>
                  </a:ext>
                </a:extLst>
              </p:cNvPr>
              <p:cNvSpPr txBox="1"/>
              <p:nvPr/>
            </p:nvSpPr>
            <p:spPr>
              <a:xfrm>
                <a:off x="6143552" y="3701602"/>
                <a:ext cx="1980222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B7C4A9-CDE7-4947-9B53-1F0C5BF91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552" y="3701602"/>
                <a:ext cx="1980222" cy="691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5815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3C5B85-DBC9-4C6B-A00F-ACA059843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Metrics</a:t>
            </a:r>
            <a:endParaRPr lang="en-CH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7D2FA94-072C-470A-B555-A9F3423BCBC6}"/>
              </a:ext>
            </a:extLst>
          </p:cNvPr>
          <p:cNvSpPr txBox="1">
            <a:spLocks/>
          </p:cNvSpPr>
          <p:nvPr/>
        </p:nvSpPr>
        <p:spPr bwMode="auto">
          <a:xfrm>
            <a:off x="154385" y="1042263"/>
            <a:ext cx="7887792" cy="635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 b="0">
                <a:solidFill>
                  <a:schemeClr val="tx1"/>
                </a:solidFill>
                <a:latin typeface="+mn-lt"/>
                <a:ea typeface="Open Sans" pitchFamily="34" charset="0"/>
                <a:cs typeface="Open Sans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chemeClr val="tx1"/>
              </a:buClr>
            </a:pPr>
            <a:r>
              <a:rPr lang="en-US" sz="2200" kern="0" dirty="0">
                <a:solidFill>
                  <a:srgbClr val="C00000"/>
                </a:solidFill>
              </a:rPr>
              <a:t>Hellinger Distance</a:t>
            </a:r>
            <a:r>
              <a:rPr lang="en-US" sz="2200" kern="0" dirty="0"/>
              <a:t>: measures difference between two probability distributions</a:t>
            </a:r>
            <a:br>
              <a:rPr lang="en-US" sz="2200" kern="0" dirty="0"/>
            </a:br>
            <a:endParaRPr lang="en-US" sz="2200" kern="0" dirty="0"/>
          </a:p>
          <a:p>
            <a:pPr marL="0" indent="0">
              <a:buNone/>
            </a:pPr>
            <a:endParaRPr lang="en-US" sz="22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48704-CA9E-4585-98BD-8C319D1114B0}"/>
                  </a:ext>
                </a:extLst>
              </p:cNvPr>
              <p:cNvSpPr txBox="1"/>
              <p:nvPr/>
            </p:nvSpPr>
            <p:spPr>
              <a:xfrm>
                <a:off x="648752" y="2093989"/>
                <a:ext cx="3732367" cy="11973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ad>
                        <m:radPr>
                          <m:deg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ra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CH" sz="2000" dirty="0" err="1">
                  <a:latin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A48704-CA9E-4585-98BD-8C319D111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2" y="2093989"/>
                <a:ext cx="3732367" cy="11973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8564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C4B116-2118-4D42-B9B3-257EA0E1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distance between stationary distributions: use Hellinger Distance (or Jensen-Shannon Divergence)</a:t>
            </a:r>
          </a:p>
          <a:p>
            <a:r>
              <a:rPr lang="en-US" dirty="0"/>
              <a:t>Compute distance between transition matrices: use </a:t>
            </a:r>
            <a:r>
              <a:rPr lang="en-US" dirty="0" err="1"/>
              <a:t>Frobenius</a:t>
            </a:r>
            <a:r>
              <a:rPr lang="en-US" dirty="0"/>
              <a:t> Distance</a:t>
            </a:r>
          </a:p>
          <a:p>
            <a:r>
              <a:rPr lang="en-US" dirty="0"/>
              <a:t>Compute distance between expected frequencies: use Hellinger Distance (or Jensen-Shannon Divergence)</a:t>
            </a:r>
            <a:endParaRPr lang="en-C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FC7F56-E0E8-42D0-A8D9-ADF39D12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between samples: Options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1747627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FC7F56-E0E8-42D0-A8D9-ADF39D12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 from Research: Spelling Learning</a:t>
            </a:r>
            <a:endParaRPr lang="en-CH" sz="3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E7F789-B4BD-4A46-9E8F-6D33A2B2F207}"/>
              </a:ext>
            </a:extLst>
          </p:cNvPr>
          <p:cNvGrpSpPr/>
          <p:nvPr/>
        </p:nvGrpSpPr>
        <p:grpSpPr>
          <a:xfrm>
            <a:off x="554039" y="1767568"/>
            <a:ext cx="2514644" cy="1847849"/>
            <a:chOff x="597583" y="1352551"/>
            <a:chExt cx="3081784" cy="226460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9208338-7936-42B5-B267-E3270E9B7DD0}"/>
                </a:ext>
              </a:extLst>
            </p:cNvPr>
            <p:cNvGrpSpPr/>
            <p:nvPr/>
          </p:nvGrpSpPr>
          <p:grpSpPr>
            <a:xfrm>
              <a:off x="1606436" y="1352551"/>
              <a:ext cx="1064078" cy="1064078"/>
              <a:chOff x="1779814" y="1260022"/>
              <a:chExt cx="1064078" cy="106407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6072EF4-A1B4-4968-AEBF-F0162062E11A}"/>
                  </a:ext>
                </a:extLst>
              </p:cNvPr>
              <p:cNvSpPr/>
              <p:nvPr/>
            </p:nvSpPr>
            <p:spPr bwMode="auto">
              <a:xfrm>
                <a:off x="1779814" y="1260022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FFF231-9704-48CA-9DF4-E6870CCEAAA5}"/>
                  </a:ext>
                </a:extLst>
              </p:cNvPr>
              <p:cNvSpPr txBox="1"/>
              <p:nvPr/>
            </p:nvSpPr>
            <p:spPr>
              <a:xfrm>
                <a:off x="1896158" y="1592006"/>
                <a:ext cx="831392" cy="41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+mn-lt"/>
                  </a:rPr>
                  <a:t>G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ame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3F8495-45DA-4D26-8CE7-C539D8CCCD6E}"/>
                </a:ext>
              </a:extLst>
            </p:cNvPr>
            <p:cNvGrpSpPr/>
            <p:nvPr/>
          </p:nvGrpSpPr>
          <p:grpSpPr>
            <a:xfrm>
              <a:off x="597583" y="2553077"/>
              <a:ext cx="1064078" cy="1064078"/>
              <a:chOff x="483280" y="2808894"/>
              <a:chExt cx="1064078" cy="106407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CAE64EE-F3F0-4A5D-A8E3-BE3006BE1960}"/>
                  </a:ext>
                </a:extLst>
              </p:cNvPr>
              <p:cNvSpPr/>
              <p:nvPr/>
            </p:nvSpPr>
            <p:spPr bwMode="auto">
              <a:xfrm>
                <a:off x="483280" y="2808894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1E63C2-E253-4BEC-8FEF-A48FB631F4D1}"/>
                  </a:ext>
                </a:extLst>
              </p:cNvPr>
              <p:cNvSpPr txBox="1"/>
              <p:nvPr/>
            </p:nvSpPr>
            <p:spPr>
              <a:xfrm>
                <a:off x="645791" y="3140878"/>
                <a:ext cx="739059" cy="41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+mn-lt"/>
                  </a:rPr>
                  <a:t>S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hop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A6F481C-87E0-4738-9B44-07664C7CF7F0}"/>
                </a:ext>
              </a:extLst>
            </p:cNvPr>
            <p:cNvGrpSpPr/>
            <p:nvPr/>
          </p:nvGrpSpPr>
          <p:grpSpPr>
            <a:xfrm>
              <a:off x="2615289" y="2553077"/>
              <a:ext cx="1064078" cy="1064078"/>
              <a:chOff x="3706585" y="2808894"/>
              <a:chExt cx="1064078" cy="106407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D8A8F75-CF9B-4FF1-91A8-23F4B6424ED4}"/>
                  </a:ext>
                </a:extLst>
              </p:cNvPr>
              <p:cNvSpPr/>
              <p:nvPr/>
            </p:nvSpPr>
            <p:spPr bwMode="auto">
              <a:xfrm>
                <a:off x="3706585" y="2808894"/>
                <a:ext cx="1064078" cy="1064078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en-CH" sz="1600">
                  <a:solidFill>
                    <a:srgbClr val="566B73"/>
                  </a:solidFill>
                  <a:latin typeface="+mn-lt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B8C7B0-7D41-4772-BA13-3F4E554C945D}"/>
                  </a:ext>
                </a:extLst>
              </p:cNvPr>
              <p:cNvSpPr txBox="1"/>
              <p:nvPr/>
            </p:nvSpPr>
            <p:spPr>
              <a:xfrm>
                <a:off x="3771103" y="2986990"/>
                <a:ext cx="935042" cy="716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 err="1">
                    <a:solidFill>
                      <a:srgbClr val="FF0000"/>
                    </a:solidFill>
                    <a:latin typeface="+mn-lt"/>
                  </a:rPr>
                  <a:t>P</a:t>
                </a:r>
                <a:r>
                  <a:rPr lang="en-US" sz="1600" dirty="0" err="1">
                    <a:solidFill>
                      <a:schemeClr val="bg1"/>
                    </a:solidFill>
                    <a:latin typeface="+mn-lt"/>
                  </a:rPr>
                  <a:t>erfor</a:t>
                </a:r>
                <a:r>
                  <a:rPr lang="en-US" sz="1600" dirty="0">
                    <a:solidFill>
                      <a:schemeClr val="bg1"/>
                    </a:solidFill>
                    <a:latin typeface="+mn-lt"/>
                  </a:rPr>
                  <a:t>-</a:t>
                </a:r>
                <a:br>
                  <a:rPr lang="en-US" sz="1600" dirty="0">
                    <a:solidFill>
                      <a:schemeClr val="bg1"/>
                    </a:solidFill>
                    <a:latin typeface="+mn-lt"/>
                  </a:rPr>
                </a:br>
                <a:r>
                  <a:rPr lang="en-US" sz="1600" dirty="0" err="1">
                    <a:solidFill>
                      <a:schemeClr val="bg1"/>
                    </a:solidFill>
                    <a:latin typeface="+mn-lt"/>
                  </a:rPr>
                  <a:t>mance</a:t>
                </a:r>
                <a:endParaRPr lang="en-CH" sz="1600" dirty="0" err="1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A1D8583D-E306-41FE-B6CB-8B2590B532A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 bwMode="auto">
            <a:xfrm rot="5400000">
              <a:off x="1299806" y="2090615"/>
              <a:ext cx="292279" cy="632645"/>
            </a:xfrm>
            <a:prstGeom prst="bentConnector3">
              <a:avLst>
                <a:gd name="adj1" fmla="val -4773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BC83FBD-9F01-4963-A0C1-09EE6FF4E85E}"/>
                </a:ext>
              </a:extLst>
            </p:cNvPr>
            <p:cNvCxnSpPr>
              <a:stCxn id="21" idx="6"/>
              <a:endCxn id="19" idx="2"/>
            </p:cNvCxnSpPr>
            <p:nvPr/>
          </p:nvCxnSpPr>
          <p:spPr bwMode="auto">
            <a:xfrm>
              <a:off x="1661661" y="3085116"/>
              <a:ext cx="95362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C625023E-4F67-40F7-98EF-68208DDADE4E}"/>
                </a:ext>
              </a:extLst>
            </p:cNvPr>
            <p:cNvCxnSpPr>
              <a:stCxn id="23" idx="6"/>
              <a:endCxn id="19" idx="0"/>
            </p:cNvCxnSpPr>
            <p:nvPr/>
          </p:nvCxnSpPr>
          <p:spPr bwMode="auto">
            <a:xfrm>
              <a:off x="2670514" y="1884590"/>
              <a:ext cx="476814" cy="668487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5E3B9DA9-3DCC-4C41-8562-1958C52A7EB7}"/>
                </a:ext>
              </a:extLst>
            </p:cNvPr>
            <p:cNvCxnSpPr>
              <a:stCxn id="19" idx="7"/>
              <a:endCxn id="23" idx="7"/>
            </p:cNvCxnSpPr>
            <p:nvPr/>
          </p:nvCxnSpPr>
          <p:spPr bwMode="auto">
            <a:xfrm rot="16200000" flipV="1">
              <a:off x="2418847" y="1604218"/>
              <a:ext cx="1200526" cy="1008853"/>
            </a:xfrm>
            <a:prstGeom prst="bentConnector3">
              <a:avLst>
                <a:gd name="adj1" fmla="val 9979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25BC15E4-4C18-4F93-8386-A4EA90B0CF79}"/>
                </a:ext>
              </a:extLst>
            </p:cNvPr>
            <p:cNvCxnSpPr>
              <a:cxnSpLocks/>
              <a:stCxn id="21" idx="1"/>
              <a:endCxn id="23" idx="2"/>
            </p:cNvCxnSpPr>
            <p:nvPr/>
          </p:nvCxnSpPr>
          <p:spPr bwMode="auto">
            <a:xfrm rot="5400000" flipH="1" flipV="1">
              <a:off x="767766" y="1870238"/>
              <a:ext cx="824318" cy="853022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F521CE1-0D0D-4F99-83A2-C7FC5BC5F7D2}"/>
                </a:ext>
              </a:extLst>
            </p:cNvPr>
            <p:cNvCxnSpPr>
              <a:stCxn id="19" idx="3"/>
              <a:endCxn id="21" idx="5"/>
            </p:cNvCxnSpPr>
            <p:nvPr/>
          </p:nvCxnSpPr>
          <p:spPr bwMode="auto">
            <a:xfrm flipH="1">
              <a:off x="1505830" y="3461324"/>
              <a:ext cx="1265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9EC4C003-7F98-485C-A8DF-E2D0A05F8636}"/>
                </a:ext>
              </a:extLst>
            </p:cNvPr>
            <p:cNvCxnSpPr>
              <a:stCxn id="23" idx="1"/>
              <a:endCxn id="23" idx="0"/>
            </p:cNvCxnSpPr>
            <p:nvPr/>
          </p:nvCxnSpPr>
          <p:spPr bwMode="auto">
            <a:xfrm rot="5400000" flipH="1" flipV="1">
              <a:off x="1872456" y="1242363"/>
              <a:ext cx="155831" cy="376208"/>
            </a:xfrm>
            <a:prstGeom prst="bentConnector3">
              <a:avLst>
                <a:gd name="adj1" fmla="val 2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8476EA8E-F258-484B-B3B4-FA514B0E2360}"/>
                </a:ext>
              </a:extLst>
            </p:cNvPr>
            <p:cNvCxnSpPr>
              <a:stCxn id="19" idx="4"/>
              <a:endCxn id="19" idx="5"/>
            </p:cNvCxnSpPr>
            <p:nvPr/>
          </p:nvCxnSpPr>
          <p:spPr bwMode="auto">
            <a:xfrm rot="5400000" flipH="1" flipV="1">
              <a:off x="3257516" y="3351136"/>
              <a:ext cx="155831" cy="376208"/>
            </a:xfrm>
            <a:prstGeom prst="bentConnector3">
              <a:avLst>
                <a:gd name="adj1" fmla="val -1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081C4A81-68CE-4F0F-8488-D4B7FB80B97B}"/>
                </a:ext>
              </a:extLst>
            </p:cNvPr>
            <p:cNvCxnSpPr>
              <a:stCxn id="21" idx="4"/>
              <a:endCxn id="21" idx="3"/>
            </p:cNvCxnSpPr>
            <p:nvPr/>
          </p:nvCxnSpPr>
          <p:spPr bwMode="auto">
            <a:xfrm rot="5400000" flipH="1">
              <a:off x="863602" y="3351136"/>
              <a:ext cx="155831" cy="376208"/>
            </a:xfrm>
            <a:prstGeom prst="bentConnector3">
              <a:avLst>
                <a:gd name="adj1" fmla="val -14669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ACCAD74-68AE-46AF-BE11-92AD5F175CCD}"/>
              </a:ext>
            </a:extLst>
          </p:cNvPr>
          <p:cNvSpPr txBox="1"/>
          <p:nvPr/>
        </p:nvSpPr>
        <p:spPr>
          <a:xfrm>
            <a:off x="3865519" y="1348462"/>
            <a:ext cx="441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Three clusters</a:t>
            </a:r>
            <a:r>
              <a:rPr lang="en-US" dirty="0">
                <a:latin typeface="+mn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Focused on the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Children, who frequently check performance/shop in-between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Spend long amounts of time off-task</a:t>
            </a:r>
            <a:endParaRPr lang="en-CH" dirty="0" err="1">
              <a:latin typeface="+mn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41FFA0-E27D-4878-B0A8-5C95A9F60C12}"/>
              </a:ext>
            </a:extLst>
          </p:cNvPr>
          <p:cNvSpPr/>
          <p:nvPr/>
        </p:nvSpPr>
        <p:spPr>
          <a:xfrm>
            <a:off x="-1" y="4819279"/>
            <a:ext cx="91440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[</a:t>
            </a:r>
            <a:r>
              <a:rPr lang="en-US" sz="12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Temporally Coherent Clustering of Student Data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, 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</a:rPr>
              <a:t>Klingler et al.,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EDM 2016</a:t>
            </a:r>
            <a:r>
              <a:rPr lang="de-CH" sz="12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950818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C06AB-D290-4CF8-A2A6-E185137A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10483"/>
            <a:ext cx="6429103" cy="371798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Aggregating features over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Defining fixed time intervals (weeks, levels in a game, 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Dynamic Time Warping</a:t>
            </a:r>
            <a:br>
              <a:rPr lang="en-US" sz="2400" dirty="0"/>
            </a:b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String Measures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Markov Models</a:t>
            </a:r>
            <a:endParaRPr lang="en-CH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522A8C-583F-4B7C-89BD-FDBF3C4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- Handling Time Series Data</a:t>
            </a:r>
            <a:endParaRPr lang="en-CH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A7EECE-C7B1-47FB-95D5-3A97AA16F47E}"/>
              </a:ext>
            </a:extLst>
          </p:cNvPr>
          <p:cNvCxnSpPr/>
          <p:nvPr/>
        </p:nvCxnSpPr>
        <p:spPr bwMode="auto">
          <a:xfrm>
            <a:off x="457200" y="2960914"/>
            <a:ext cx="81153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CCD3E96-E70C-4D1D-9540-0B921CDB50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" t="5396" r="6940"/>
          <a:stretch/>
        </p:blipFill>
        <p:spPr>
          <a:xfrm>
            <a:off x="6758149" y="1217242"/>
            <a:ext cx="1805345" cy="1436914"/>
          </a:xfrm>
          <a:prstGeom prst="rect">
            <a:avLst/>
          </a:prstGeom>
        </p:spPr>
      </p:pic>
      <p:pic>
        <p:nvPicPr>
          <p:cNvPr id="7" name="Picture 2" descr="https://lh3.googleusercontent.com/kHemZxVNVOC9Fq3ZnlDGHaCtiWsaH68oKbeo6KdFhUXdjN3AdtvXEGwn6Hubzi-m2bsO4t19GaOoPi_dMRmlZtdYmQ-DGIoXw-EgjIhQTu8VeE9Mqf9jK6TJq9QNk8Do_JL51x0GfAA">
            <a:extLst>
              <a:ext uri="{FF2B5EF4-FFF2-40B4-BE49-F238E27FC236}">
                <a16:creationId xmlns:a16="http://schemas.microsoft.com/office/drawing/2014/main" id="{54B7EDB3-5C1A-492A-9D2D-B679503E50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" r="49470" b="42325"/>
          <a:stretch/>
        </p:blipFill>
        <p:spPr bwMode="auto">
          <a:xfrm>
            <a:off x="6814456" y="3169138"/>
            <a:ext cx="1692730" cy="114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4CB7BB-4DC3-437E-88D7-34F95B1373BA}"/>
              </a:ext>
            </a:extLst>
          </p:cNvPr>
          <p:cNvSpPr txBox="1"/>
          <p:nvPr/>
        </p:nvSpPr>
        <p:spPr>
          <a:xfrm>
            <a:off x="6814456" y="4257260"/>
            <a:ext cx="1687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Action Sequences</a:t>
            </a:r>
            <a:endParaRPr lang="en-CH" sz="1600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75942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830F06-0EA9-4774-B147-D721601D4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176617"/>
            <a:ext cx="8503920" cy="2312895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The final exam will be on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Thursday 25.06.2026</a:t>
            </a:r>
            <a:r>
              <a:rPr lang="en-US" dirty="0"/>
              <a:t> from </a:t>
            </a:r>
            <a:r>
              <a:rPr lang="en-US" b="1" dirty="0"/>
              <a:t>09h15 to 12h15</a:t>
            </a:r>
          </a:p>
          <a:p>
            <a:pPr marL="0" indent="0" algn="ctr">
              <a:buNone/>
            </a:pPr>
            <a:endParaRPr lang="en-C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DA5944-CEA7-496D-9591-668C93E0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991362244"/>
      </p:ext>
    </p:extLst>
  </p:cSld>
  <p:clrMapOvr>
    <a:masterClrMapping/>
  </p:clrMapOvr>
</p:sld>
</file>

<file path=ppt/theme/theme1.xml><?xml version="1.0" encoding="utf-8"?>
<a:theme xmlns:a="http://schemas.openxmlformats.org/drawingml/2006/main" name="cgl_slideset">
  <a:themeElements>
    <a:clrScheme name="NewSlidese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3"/>
        </a:solidFill>
        <a:ln>
          <a:noFill/>
        </a:ln>
        <a:effectLst/>
      </a:spPr>
      <a:bodyPr wrap="none" anchor="ctr"/>
      <a:lstStyle>
        <a:defPPr>
          <a:defRPr>
            <a:solidFill>
              <a:srgbClr val="566B73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ETH Light" pitchFamily="2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NewSlidese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wSlidese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Slidese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Slidese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Slidese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Slidese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Slidese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7CE1B778AAFD4984E6FDA895498A79" ma:contentTypeVersion="9" ma:contentTypeDescription="Crear nuevo documento." ma:contentTypeScope="" ma:versionID="a7a5f47a01a7d1bc859d383e00431886">
  <xsd:schema xmlns:xsd="http://www.w3.org/2001/XMLSchema" xmlns:xs="http://www.w3.org/2001/XMLSchema" xmlns:p="http://schemas.microsoft.com/office/2006/metadata/properties" xmlns:ns3="f21f5206-5967-4597-8896-12321d90472a" xmlns:ns4="d08e35dc-2e64-4c19-82e8-ba4e9b6e6f11" targetNamespace="http://schemas.microsoft.com/office/2006/metadata/properties" ma:root="true" ma:fieldsID="bee5783e9ef711d835781fdc80f95bfa" ns3:_="" ns4:_="">
    <xsd:import namespace="f21f5206-5967-4597-8896-12321d90472a"/>
    <xsd:import namespace="d08e35dc-2e64-4c19-82e8-ba4e9b6e6f1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1f5206-5967-4597-8896-12321d90472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8e35dc-2e64-4c19-82e8-ba4e9b6e6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A0E641-58AE-4BF6-A195-BBC13AE020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1f5206-5967-4597-8896-12321d90472a"/>
    <ds:schemaRef ds:uri="d08e35dc-2e64-4c19-82e8-ba4e9b6e6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AB4B30-9ED1-46D9-B84A-F9A6EBF6BE06}">
  <ds:schemaRefs>
    <ds:schemaRef ds:uri="f21f5206-5967-4597-8896-12321d90472a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08e35dc-2e64-4c19-82e8-ba4e9b6e6f11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AA14A39-5A85-4448-B6C3-BDF5CA84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cgl_slideset</Template>
  <TotalTime>0</TotalTime>
  <Words>4268</Words>
  <Application>Microsoft Office PowerPoint</Application>
  <PresentationFormat>On-screen Show (16:9)</PresentationFormat>
  <Paragraphs>1655</Paragraphs>
  <Slides>67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Arial</vt:lpstr>
      <vt:lpstr>Calibri</vt:lpstr>
      <vt:lpstr>Cambria Math</vt:lpstr>
      <vt:lpstr>ETH Light</vt:lpstr>
      <vt:lpstr>Open Sans</vt:lpstr>
      <vt:lpstr>Wingdings</vt:lpstr>
      <vt:lpstr>cgl_slideset</vt:lpstr>
      <vt:lpstr>Time Series Clustering</vt:lpstr>
      <vt:lpstr>Today’s Topic</vt:lpstr>
      <vt:lpstr>Getting ready for today’s lecture…</vt:lpstr>
      <vt:lpstr>Short quiz about the past…</vt:lpstr>
      <vt:lpstr>Short quiz about the past…</vt:lpstr>
      <vt:lpstr>Short quiz about the past…</vt:lpstr>
      <vt:lpstr>Today – Clustering Time Series Data</vt:lpstr>
      <vt:lpstr>Today’s Use Case</vt:lpstr>
      <vt:lpstr>Agenda</vt:lpstr>
      <vt:lpstr>Aggregating features over time</vt:lpstr>
      <vt:lpstr>Your Turn – Aggregated Data</vt:lpstr>
      <vt:lpstr>Agenda</vt:lpstr>
      <vt:lpstr>Using fixed time intervals</vt:lpstr>
      <vt:lpstr>Your Turn – Fixed Time Intervals</vt:lpstr>
      <vt:lpstr>Agenda</vt:lpstr>
      <vt:lpstr>Dynamic Time Warping</vt:lpstr>
      <vt:lpstr>Example: Spoken Digits</vt:lpstr>
      <vt:lpstr>Dynamic Time Warping vs. Euclidean Distance</vt:lpstr>
      <vt:lpstr>Dynamic Time Warping: Rules</vt:lpstr>
      <vt:lpstr>Dynamic Time Warping: Example</vt:lpstr>
      <vt:lpstr>Dynamic Time Warping: Example</vt:lpstr>
      <vt:lpstr>Dynamic Time Warping: Example</vt:lpstr>
      <vt:lpstr>Dynamic Time Warping: Possible Paths</vt:lpstr>
      <vt:lpstr>Dynamic Time Warping: Possible Paths</vt:lpstr>
      <vt:lpstr>Dynamic Time Warping: Minimum Path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Example</vt:lpstr>
      <vt:lpstr>Dynamic Time Warping: Window</vt:lpstr>
      <vt:lpstr>Dynamic Time Warping: Window</vt:lpstr>
      <vt:lpstr>Dynamic Time Warping: w=2</vt:lpstr>
      <vt:lpstr>Dynamic Time Warping: w=2</vt:lpstr>
      <vt:lpstr>Dynamic Time Warping: w=2</vt:lpstr>
      <vt:lpstr>Dynamic Time Warping: w=2</vt:lpstr>
      <vt:lpstr>Dynamic Time Warping: w=2</vt:lpstr>
      <vt:lpstr>Your Turn – Dynamic Time Warping</vt:lpstr>
      <vt:lpstr>Agenda</vt:lpstr>
      <vt:lpstr>Example from Research: String Metrics</vt:lpstr>
      <vt:lpstr>Example from Research: String Metrics</vt:lpstr>
      <vt:lpstr>Agenda</vt:lpstr>
      <vt:lpstr>Markov Models</vt:lpstr>
      <vt:lpstr>Markov Models</vt:lpstr>
      <vt:lpstr>Markov Models</vt:lpstr>
      <vt:lpstr>Parameters: Maximum Likelihood Estimation</vt:lpstr>
      <vt:lpstr>Stationary Distribution</vt:lpstr>
      <vt:lpstr>Stationary Distribution</vt:lpstr>
      <vt:lpstr>Expected Frequencies</vt:lpstr>
      <vt:lpstr>Distance Metrics</vt:lpstr>
      <vt:lpstr>Distance Metrics</vt:lpstr>
      <vt:lpstr>Distance Metrics</vt:lpstr>
      <vt:lpstr>Distance between samples: Options</vt:lpstr>
      <vt:lpstr>Example from Research: Spelling Learning</vt:lpstr>
      <vt:lpstr>Summary - Handling Time Series Data</vt:lpstr>
      <vt:lpstr>Administrative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MLBD Lecture 6</dc:title>
  <dc:creator>Käser  Tanja Christina</dc:creator>
  <cp:lastModifiedBy>Tanja Käser</cp:lastModifiedBy>
  <cp:revision>2137</cp:revision>
  <dcterms:created xsi:type="dcterms:W3CDTF">2015-10-23T07:41:54Z</dcterms:created>
  <dcterms:modified xsi:type="dcterms:W3CDTF">2026-04-13T16:11:49Z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0x010100297CE1B778AAFD4984E6FDA895498A79</vt:lpwstr>
  </property>
</Properties>
</file>